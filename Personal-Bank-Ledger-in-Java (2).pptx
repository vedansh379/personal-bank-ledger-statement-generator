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Fira Mono Medium"/>
      <p:regular r:id="rId201314"/>
    </p:embeddedFont>
    <p:embeddedFont>
      <p:font typeface="Fira Mono Bold"/>
      <p:regular r:id="rId201315"/>
    </p:embeddedFont>
    <p:embeddedFont>
      <p:font typeface="Fira Mono"/>
      <p:regular r:id="rId201316"/>
    </p:embeddedFont>
    <p:embeddedFont>
      <p:font typeface="Fira Sans"/>
      <p:regular r:id="rId201317"/>
    </p:embeddedFont>
    <p:embeddedFont>
      <p:font typeface="Fira Sans SemiBold"/>
      <p:regular r:id="rId201318"/>
    </p:embeddedFont>
    <p:embeddedFont>
      <p:font typeface="Fira Sans 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deliberately small Java design. The point is not to build a banking platform; it is to show how clear domain objects turn transaction data into trustworthy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in three moves: unreliable manual notes, a need for validated operations, and the design promise that reporting never becomes a second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Account owns the ledger; the ledger owns transaction order and balance rules; the generator performs a read; the statement is the report object returned to the caller.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panel shows the intended call shape. The important design choice is that validation happens before mutation, making each operation independently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quality rule: generating a statement never mutates the account. The generator selects a date range, calculates balances and totals, then returns a report object in a format the UI can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table to demonstrate the balance after every transaction. Then point out that the category summary and the live balance come from the same rows, not from separate bookkeeping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adds a modeling distinction: a savings transfer changes the account balance, but it is not household spending. Transaction type and category let the statement preserve that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demo flow, then name the tests that defend it. The strongest interview takeaway is separation of responsibilities: transactions change state; statements explain state without changing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smallest useful model. The point is not to build a banking platform; it is to make the rules visible in types that are easy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ordering: validate first, mutate second, record third. A failed withdrawal must leave both the account and the transaction history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make the read/write boundary explicit. The statement is a projection: it can be regenerated whenever the underlying ledger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implementation section by running the happy path and one rejected operation. The output is simple evidence that the domain rules and the read-only report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4E8EE"/>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7315017" cy="6858000"/>
          </a:xfrm>
          <a:custGeom>
            <a:avLst/>
            <a:gdLst/>
            <a:ahLst/>
            <a:cxnLst/>
            <a:rect l="l" t="t" r="r" b="b"/>
            <a:pathLst>
              <a:path w="7315017" h="6858000">
                <a:moveTo>
                  <a:pt x="26991" y="0"/>
                </a:moveTo>
                <a:lnTo>
                  <a:pt x="7315017" y="0"/>
                </a:lnTo>
                <a:lnTo>
                  <a:pt x="7315017" y="6858000"/>
                </a:lnTo>
                <a:lnTo>
                  <a:pt x="26991" y="6858000"/>
                </a:lnTo>
                <a:arcTo hR="26991" wR="26991" stAng="5400000" swAng="5400000"/>
                <a:lnTo>
                  <a:pt x="0" y="26991"/>
                </a:lnTo>
                <a:arcTo hR="26991" wR="26991" stAng="10800000" swAng="5400000"/>
                <a:close/>
              </a:path>
            </a:pathLst>
          </a:custGeom>
          <a:solidFill>
            <a:srgbClr val="2B3544"/>
          </a:solidFill>
          <a:ln/>
        </p:spPr>
      </p:sp>
      <p:sp>
        <p:nvSpPr>
          <p:cNvPr id="3" name="Text 1"/>
          <p:cNvSpPr/>
          <p:nvPr/>
        </p:nvSpPr>
        <p:spPr>
          <a:xfrm>
            <a:off x="482588" y="533400"/>
            <a:ext cx="6959426" cy="190500"/>
          </a:xfrm>
          <a:prstGeom prst="rect">
            <a:avLst/>
          </a:prstGeom>
          <a:noFill/>
          <a:ln/>
        </p:spPr>
        <p:txBody>
          <a:bodyPr wrap="none" lIns="0" tIns="0" rIns="0" bIns="0" rtlCol="0" anchor="t"/>
          <a:lstStyle/>
          <a:p>
            <a:pPr algn="l" indent="0" marL="0">
              <a:lnSpc>
                <a:spcPct val="100000"/>
              </a:lnSpc>
              <a:buNone/>
            </a:pPr>
            <a:r>
              <a:rPr lang="en-US" sz="1250" spc="25" kern="0" dirty="0">
                <a:solidFill>
                  <a:srgbClr val="E5EAF2"/>
                </a:solidFill>
                <a:latin typeface="Fira Mono Medium" pitchFamily="34" charset="0"/>
                <a:ea typeface="Fira Mono Medium" pitchFamily="34" charset="-122"/>
                <a:cs typeface="Fira Mono Medium" pitchFamily="34" charset="-120"/>
              </a:rPr>
              <a:t>JAVA · OBJECT-ORIENTED DESIGN</a:t>
            </a:r>
            <a:endParaRPr lang="en-US" sz="1250" dirty="0"/>
          </a:p>
        </p:txBody>
      </p:sp>
      <p:sp>
        <p:nvSpPr>
          <p:cNvPr id="4" name="Text 2"/>
          <p:cNvSpPr/>
          <p:nvPr/>
        </p:nvSpPr>
        <p:spPr>
          <a:xfrm>
            <a:off x="482588" y="3830439"/>
            <a:ext cx="6349841" cy="1333500"/>
          </a:xfrm>
          <a:prstGeom prst="rect">
            <a:avLst/>
          </a:prstGeom>
          <a:noFill/>
          <a:ln/>
        </p:spPr>
        <p:txBody>
          <a:bodyPr wrap="square" lIns="0" tIns="0" rIns="0" bIns="0" rtlCol="0" anchor="t">
            <a:normAutofit/>
          </a:bodyPr>
          <a:lstStyle/>
          <a:p>
            <a:pPr algn="l" indent="0" marL="0">
              <a:lnSpc>
                <a:spcPct val="87000"/>
              </a:lnSpc>
              <a:buNone/>
            </a:pPr>
            <a:r>
              <a:rPr lang="en-US" sz="5000" spc="-75" kern="0" dirty="0">
                <a:solidFill>
                  <a:srgbClr val="E5EAF2"/>
                </a:solidFill>
                <a:latin typeface="Fira Sans SemiBold" pitchFamily="34" charset="0"/>
                <a:ea typeface="Fira Sans SemiBold" pitchFamily="34" charset="-122"/>
                <a:cs typeface="Fira Sans SemiBold" pitchFamily="34" charset="-120"/>
              </a:rPr>
              <a:t>Personal Bank</a:t>
            </a:r>
            <a:endParaRPr lang="en-US" sz="5000" dirty="0"/>
          </a:p>
          <a:p>
            <a:pPr algn="l" indent="0" marL="0">
              <a:lnSpc>
                <a:spcPct val="87000"/>
              </a:lnSpc>
              <a:buNone/>
            </a:pPr>
            <a:r>
              <a:rPr lang="en-US" sz="5000" spc="-75" kern="0" dirty="0">
                <a:solidFill>
                  <a:srgbClr val="E5EAF2"/>
                </a:solidFill>
                <a:latin typeface="Fira Sans SemiBold" pitchFamily="34" charset="0"/>
                <a:ea typeface="Fira Sans SemiBold" pitchFamily="34" charset="-122"/>
                <a:cs typeface="Fira Sans SemiBold" pitchFamily="34" charset="-120"/>
              </a:rPr>
              <a:t>Ledger in Java</a:t>
            </a:r>
            <a:endParaRPr lang="en-US" sz="5000" dirty="0"/>
          </a:p>
        </p:txBody>
      </p:sp>
      <p:sp>
        <p:nvSpPr>
          <p:cNvPr id="5" name="Text 3"/>
          <p:cNvSpPr/>
          <p:nvPr/>
        </p:nvSpPr>
        <p:spPr>
          <a:xfrm>
            <a:off x="482588" y="5417939"/>
            <a:ext cx="6349841"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E5EAF2"/>
                </a:solidFill>
                <a:latin typeface="Fira Sans" pitchFamily="34" charset="0"/>
                <a:ea typeface="Fira Sans" pitchFamily="34" charset="-122"/>
                <a:cs typeface="Fira Sans" pitchFamily="34" charset="-120"/>
              </a:rPr>
              <a:t>Track every transaction, calculate balances, and generate readable monthly statements from one small object-oriented design.</a:t>
            </a:r>
            <a:endParaRPr lang="en-US" sz="1700" dirty="0"/>
          </a:p>
        </p:txBody>
      </p:sp>
      <p:sp>
        <p:nvSpPr>
          <p:cNvPr id="6" name="Text 4"/>
          <p:cNvSpPr/>
          <p:nvPr/>
        </p:nvSpPr>
        <p:spPr>
          <a:xfrm>
            <a:off x="7746806" y="2021880"/>
            <a:ext cx="4444889"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5B6577"/>
                </a:solidFill>
                <a:latin typeface="Fira Mono" pitchFamily="34" charset="0"/>
                <a:ea typeface="Fira Mono" pitchFamily="34" charset="-122"/>
                <a:cs typeface="Fira Mono" pitchFamily="34" charset="-120"/>
              </a:rPr>
              <a:t>ONE SOURCE OF TRUTH</a:t>
            </a:r>
            <a:endParaRPr lang="en-US" sz="1700" dirty="0"/>
          </a:p>
        </p:txBody>
      </p:sp>
      <p:sp>
        <p:nvSpPr>
          <p:cNvPr id="7" name="Text 5"/>
          <p:cNvSpPr/>
          <p:nvPr/>
        </p:nvSpPr>
        <p:spPr>
          <a:xfrm>
            <a:off x="7746806" y="2759075"/>
            <a:ext cx="4013100" cy="408880"/>
          </a:xfrm>
          <a:prstGeom prst="rect">
            <a:avLst/>
          </a:prstGeom>
          <a:noFill/>
          <a:ln/>
        </p:spPr>
        <p:txBody>
          <a:bodyPr wrap="none" lIns="0" tIns="0" rIns="0" bIns="0" rtlCol="0" anchor="t"/>
          <a:lstStyle/>
          <a:p>
            <a:pPr algn="l" indent="0" marL="0">
              <a:lnSpc>
                <a:spcPct val="96000"/>
              </a:lnSpc>
              <a:buNone/>
            </a:pPr>
            <a:r>
              <a:rPr lang="en-US" sz="2800" spc="-28" kern="0" dirty="0">
                <a:solidFill>
                  <a:srgbClr val="1F2937"/>
                </a:solidFill>
                <a:latin typeface="Fira Sans SemiBold" pitchFamily="34" charset="0"/>
                <a:ea typeface="Fira Sans SemiBold" pitchFamily="34" charset="-122"/>
                <a:cs typeface="Fira Sans SemiBold" pitchFamily="34" charset="-120"/>
              </a:rPr>
              <a:t>From entries to evidence</a:t>
            </a:r>
            <a:endParaRPr lang="en-US" sz="2800" dirty="0"/>
          </a:p>
        </p:txBody>
      </p:sp>
      <p:sp>
        <p:nvSpPr>
          <p:cNvPr id="8" name="Shape 6"/>
          <p:cNvSpPr/>
          <p:nvPr/>
        </p:nvSpPr>
        <p:spPr>
          <a:xfrm>
            <a:off x="7746806" y="3475930"/>
            <a:ext cx="1324140" cy="38100"/>
          </a:xfrm>
          <a:prstGeom prst="roundRect">
            <a:avLst>
              <a:gd name="adj" fmla="val 49999"/>
            </a:avLst>
          </a:prstGeom>
          <a:solidFill>
            <a:srgbClr val="0A7C78"/>
          </a:solidFill>
          <a:ln/>
        </p:spPr>
      </p:sp>
      <p:sp>
        <p:nvSpPr>
          <p:cNvPr id="9" name="Text 7"/>
          <p:cNvSpPr/>
          <p:nvPr/>
        </p:nvSpPr>
        <p:spPr>
          <a:xfrm>
            <a:off x="7746806" y="3796605"/>
            <a:ext cx="4013100"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Record once. Validate at the boundary. Read the result whenever you need it.</a:t>
            </a:r>
            <a:endParaRPr lang="en-US" sz="1700" dirty="0"/>
          </a:p>
        </p:txBody>
      </p:sp>
      <p:sp>
        <p:nvSpPr>
          <p:cNvPr id="10" name="Text 8"/>
          <p:cNvSpPr/>
          <p:nvPr/>
        </p:nvSpPr>
        <p:spPr>
          <a:xfrm>
            <a:off x="7746806" y="4629646"/>
            <a:ext cx="4444889"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A compact project design for an interview or viva.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algn="l" indent="0" marL="0">
              <a:lnSpc>
                <a:spcPct val="100000"/>
              </a:lnSpc>
              <a:buNone/>
            </a:pPr>
            <a:r>
              <a:rPr lang="en-US" sz="1250" spc="25" kern="0" dirty="0">
                <a:solidFill>
                  <a:srgbClr val="B94A0A"/>
                </a:solidFill>
                <a:latin typeface="Fira Mono Medium" pitchFamily="34" charset="0"/>
                <a:ea typeface="Fira Mono Medium" pitchFamily="34" charset="-122"/>
                <a:cs typeface="Fira Mono Medium" pitchFamily="34" charset="-120"/>
              </a:rPr>
              <a:t>THE PROBLEM</a:t>
            </a:r>
            <a:endParaRPr lang="en-US" sz="1250" dirty="0"/>
          </a:p>
        </p:txBody>
      </p:sp>
      <p:sp>
        <p:nvSpPr>
          <p:cNvPr id="3" name="Text 1"/>
          <p:cNvSpPr/>
          <p:nvPr/>
        </p:nvSpPr>
        <p:spPr>
          <a:xfrm>
            <a:off x="457189" y="749300"/>
            <a:ext cx="11277318" cy="408880"/>
          </a:xfrm>
          <a:prstGeom prst="rect">
            <a:avLst/>
          </a:prstGeom>
          <a:noFill/>
          <a:ln/>
        </p:spPr>
        <p:txBody>
          <a:bodyPr wrap="none" lIns="0" tIns="0" rIns="0" bIns="0" rtlCol="0" anchor="t"/>
          <a:lstStyle/>
          <a:p>
            <a:pPr algn="l" indent="0" marL="0">
              <a:lnSpc>
                <a:spcPct val="96000"/>
              </a:lnSpc>
              <a:buNone/>
            </a:pPr>
            <a:r>
              <a:rPr lang="en-US" sz="2800" spc="-28" kern="0" dirty="0">
                <a:solidFill>
                  <a:srgbClr val="1F2937"/>
                </a:solidFill>
                <a:latin typeface="Fira Sans SemiBold" pitchFamily="34" charset="0"/>
                <a:ea typeface="Fira Sans SemiBold" pitchFamily="34" charset="-122"/>
                <a:cs typeface="Fira Sans SemiBold" pitchFamily="34" charset="-120"/>
              </a:rPr>
              <a:t>One ledger turns transactions into answers</a:t>
            </a:r>
            <a:endParaRPr lang="en-US" sz="2800" dirty="0"/>
          </a:p>
        </p:txBody>
      </p:sp>
      <p:sp>
        <p:nvSpPr>
          <p:cNvPr id="4" name="Text 2"/>
          <p:cNvSpPr/>
          <p:nvPr/>
        </p:nvSpPr>
        <p:spPr>
          <a:xfrm>
            <a:off x="457189" y="1412180"/>
            <a:ext cx="11734506" cy="302220"/>
          </a:xfrm>
          <a:prstGeom prst="rect">
            <a:avLst/>
          </a:prstGeom>
          <a:noFill/>
          <a:ln/>
        </p:spPr>
        <p:txBody>
          <a:bodyPr wrap="none" lIns="0" tIns="0" rIns="0" bIns="0" rtlCol="0" anchor="t"/>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The design replaces scattered notes with one auditable source of truth.</a:t>
            </a:r>
            <a:endParaRPr lang="en-US" sz="1700" dirty="0"/>
          </a:p>
        </p:txBody>
      </p:sp>
      <p:sp>
        <p:nvSpPr>
          <p:cNvPr id="5" name="Shape 3"/>
          <p:cNvSpPr/>
          <p:nvPr/>
        </p:nvSpPr>
        <p:spPr>
          <a:xfrm>
            <a:off x="0" y="2751733"/>
            <a:ext cx="3860703" cy="4106267"/>
          </a:xfrm>
          <a:custGeom>
            <a:avLst/>
            <a:gdLst/>
            <a:ahLst/>
            <a:cxnLst/>
            <a:rect l="l" t="t" r="r" b="b"/>
            <a:pathLst>
              <a:path w="3860703" h="4106267">
                <a:moveTo>
                  <a:pt x="0" y="0"/>
                </a:moveTo>
                <a:lnTo>
                  <a:pt x="3860703" y="0"/>
                </a:lnTo>
                <a:lnTo>
                  <a:pt x="3860703" y="4106267"/>
                </a:lnTo>
                <a:lnTo>
                  <a:pt x="26991" y="4106267"/>
                </a:lnTo>
                <a:arcTo hR="26991" wR="26991" stAng="5400000" swAng="5400000"/>
                <a:lnTo>
                  <a:pt x="0" y="0"/>
                </a:lnTo>
                <a:close/>
              </a:path>
            </a:pathLst>
          </a:custGeom>
          <a:solidFill>
            <a:srgbClr val="F9F7F7"/>
          </a:solidFill>
          <a:ln/>
        </p:spPr>
      </p:sp>
      <p:sp>
        <p:nvSpPr>
          <p:cNvPr id="6" name="Text 4"/>
          <p:cNvSpPr/>
          <p:nvPr/>
        </p:nvSpPr>
        <p:spPr>
          <a:xfrm>
            <a:off x="457189" y="3252093"/>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0A7C78"/>
                </a:solidFill>
                <a:latin typeface="Fira Sans SemiBold" pitchFamily="34" charset="0"/>
                <a:ea typeface="Fira Sans SemiBold" pitchFamily="34" charset="-122"/>
                <a:cs typeface="Fira Sans SemiBold" pitchFamily="34" charset="-120"/>
              </a:rPr>
              <a:t>01</a:t>
            </a:r>
            <a:endParaRPr lang="en-US" sz="1700" dirty="0"/>
          </a:p>
        </p:txBody>
      </p:sp>
      <p:sp>
        <p:nvSpPr>
          <p:cNvPr id="7" name="Text 5"/>
          <p:cNvSpPr/>
          <p:nvPr/>
        </p:nvSpPr>
        <p:spPr>
          <a:xfrm>
            <a:off x="914972" y="3208933"/>
            <a:ext cx="3098127"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PROBLEM</a:t>
            </a:r>
            <a:endParaRPr lang="en-US" sz="1700" dirty="0"/>
          </a:p>
        </p:txBody>
      </p:sp>
      <p:sp>
        <p:nvSpPr>
          <p:cNvPr id="8" name="Text 6"/>
          <p:cNvSpPr/>
          <p:nvPr/>
        </p:nvSpPr>
        <p:spPr>
          <a:xfrm>
            <a:off x="914972" y="3946128"/>
            <a:ext cx="2488542"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Manual notes drift</a:t>
            </a:r>
            <a:endParaRPr lang="en-US" sz="2300" dirty="0"/>
          </a:p>
        </p:txBody>
      </p:sp>
      <p:sp>
        <p:nvSpPr>
          <p:cNvPr id="9" name="Text 7"/>
          <p:cNvSpPr/>
          <p:nvPr/>
        </p:nvSpPr>
        <p:spPr>
          <a:xfrm>
            <a:off x="914972" y="4509988"/>
            <a:ext cx="2488542" cy="151110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Balances, categories, and monthly summaries become hard to trust when each is calculated separately.</a:t>
            </a:r>
            <a:endParaRPr lang="en-US" sz="1700" dirty="0"/>
          </a:p>
        </p:txBody>
      </p:sp>
      <p:sp>
        <p:nvSpPr>
          <p:cNvPr id="10" name="Shape 8"/>
          <p:cNvSpPr/>
          <p:nvPr/>
        </p:nvSpPr>
        <p:spPr>
          <a:xfrm>
            <a:off x="4165496" y="2751733"/>
            <a:ext cx="3860703" cy="4106267"/>
          </a:xfrm>
          <a:prstGeom prst="rect">
            <a:avLst/>
          </a:prstGeom>
          <a:solidFill>
            <a:srgbClr val="F9F7F7"/>
          </a:solidFill>
          <a:ln/>
        </p:spPr>
      </p:sp>
      <p:sp>
        <p:nvSpPr>
          <p:cNvPr id="11" name="Text 9"/>
          <p:cNvSpPr/>
          <p:nvPr/>
        </p:nvSpPr>
        <p:spPr>
          <a:xfrm>
            <a:off x="4622684" y="3252093"/>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0A7C78"/>
                </a:solidFill>
                <a:latin typeface="Fira Sans SemiBold" pitchFamily="34" charset="0"/>
                <a:ea typeface="Fira Sans SemiBold" pitchFamily="34" charset="-122"/>
                <a:cs typeface="Fira Sans SemiBold" pitchFamily="34" charset="-120"/>
              </a:rPr>
              <a:t>02</a:t>
            </a:r>
            <a:endParaRPr lang="en-US" sz="1700" dirty="0"/>
          </a:p>
        </p:txBody>
      </p:sp>
      <p:sp>
        <p:nvSpPr>
          <p:cNvPr id="12" name="Text 10"/>
          <p:cNvSpPr/>
          <p:nvPr/>
        </p:nvSpPr>
        <p:spPr>
          <a:xfrm>
            <a:off x="5080468" y="3208933"/>
            <a:ext cx="3098127"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GOAL</a:t>
            </a:r>
            <a:endParaRPr lang="en-US" sz="1700" dirty="0"/>
          </a:p>
        </p:txBody>
      </p:sp>
      <p:sp>
        <p:nvSpPr>
          <p:cNvPr id="13" name="Text 11"/>
          <p:cNvSpPr/>
          <p:nvPr/>
        </p:nvSpPr>
        <p:spPr>
          <a:xfrm>
            <a:off x="5080468" y="3946128"/>
            <a:ext cx="2488542" cy="759420"/>
          </a:xfrm>
          <a:prstGeom prst="rect">
            <a:avLst/>
          </a:prstGeom>
          <a:noFill/>
          <a:ln/>
        </p:spPr>
        <p:txBody>
          <a:bodyPr wrap="square" lIns="0" tIns="0" rIns="0" bIns="0" rtlCol="0" anchor="t">
            <a:normAutofit/>
          </a:bodyPr>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Validate each change</a:t>
            </a:r>
            <a:endParaRPr lang="en-US" sz="2300" dirty="0"/>
          </a:p>
        </p:txBody>
      </p:sp>
      <p:sp>
        <p:nvSpPr>
          <p:cNvPr id="14" name="Text 12"/>
          <p:cNvSpPr/>
          <p:nvPr/>
        </p:nvSpPr>
        <p:spPr>
          <a:xfrm>
            <a:off x="5080468" y="4889698"/>
            <a:ext cx="2488542" cy="151110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Record deposits, withdrawals, and transfers in order, then produce a statement on demand.</a:t>
            </a:r>
            <a:endParaRPr lang="en-US" sz="1700" dirty="0"/>
          </a:p>
        </p:txBody>
      </p:sp>
      <p:sp>
        <p:nvSpPr>
          <p:cNvPr id="15" name="Shape 13"/>
          <p:cNvSpPr/>
          <p:nvPr/>
        </p:nvSpPr>
        <p:spPr>
          <a:xfrm>
            <a:off x="8330992" y="2751733"/>
            <a:ext cx="3860703" cy="4106267"/>
          </a:xfrm>
          <a:custGeom>
            <a:avLst/>
            <a:gdLst/>
            <a:ahLst/>
            <a:cxnLst/>
            <a:rect l="l" t="t" r="r" b="b"/>
            <a:pathLst>
              <a:path w="3860703" h="4106267">
                <a:moveTo>
                  <a:pt x="0" y="0"/>
                </a:moveTo>
                <a:lnTo>
                  <a:pt x="3860703" y="0"/>
                </a:lnTo>
                <a:lnTo>
                  <a:pt x="3860703" y="4079276"/>
                </a:lnTo>
                <a:arcTo hR="26991" wR="26991" stAng="0" swAng="5400000"/>
                <a:lnTo>
                  <a:pt x="0" y="4106267"/>
                </a:lnTo>
                <a:lnTo>
                  <a:pt x="0" y="0"/>
                </a:lnTo>
                <a:close/>
              </a:path>
            </a:pathLst>
          </a:custGeom>
          <a:solidFill>
            <a:srgbClr val="0A7C78"/>
          </a:solidFill>
          <a:ln/>
        </p:spPr>
      </p:sp>
      <p:sp>
        <p:nvSpPr>
          <p:cNvPr id="16" name="Text 14"/>
          <p:cNvSpPr/>
          <p:nvPr/>
        </p:nvSpPr>
        <p:spPr>
          <a:xfrm>
            <a:off x="8788180" y="3252093"/>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Fira Sans SemiBold" pitchFamily="34" charset="0"/>
                <a:ea typeface="Fira Sans SemiBold" pitchFamily="34" charset="-122"/>
                <a:cs typeface="Fira Sans SemiBold" pitchFamily="34" charset="-120"/>
              </a:rPr>
              <a:t>03</a:t>
            </a:r>
            <a:endParaRPr lang="en-US" sz="1700" dirty="0"/>
          </a:p>
        </p:txBody>
      </p:sp>
      <p:sp>
        <p:nvSpPr>
          <p:cNvPr id="17" name="Text 15"/>
          <p:cNvSpPr/>
          <p:nvPr/>
        </p:nvSpPr>
        <p:spPr>
          <a:xfrm>
            <a:off x="9245964" y="3208933"/>
            <a:ext cx="2945731"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FFFFFF"/>
                </a:solidFill>
                <a:latin typeface="Fira Mono" pitchFamily="34" charset="0"/>
                <a:ea typeface="Fira Mono" pitchFamily="34" charset="-122"/>
                <a:cs typeface="Fira Mono" pitchFamily="34" charset="-120"/>
              </a:rPr>
              <a:t>PROMISE</a:t>
            </a:r>
            <a:endParaRPr lang="en-US" sz="1700" dirty="0"/>
          </a:p>
        </p:txBody>
      </p:sp>
      <p:sp>
        <p:nvSpPr>
          <p:cNvPr id="18" name="Text 16"/>
          <p:cNvSpPr/>
          <p:nvPr/>
        </p:nvSpPr>
        <p:spPr>
          <a:xfrm>
            <a:off x="9245964" y="3946128"/>
            <a:ext cx="2488542" cy="379710"/>
          </a:xfrm>
          <a:prstGeom prst="rect">
            <a:avLst/>
          </a:prstGeom>
          <a:noFill/>
          <a:ln/>
        </p:spPr>
        <p:txBody>
          <a:bodyPr wrap="none" lIns="0" tIns="0" rIns="0" bIns="0" rtlCol="0" anchor="t"/>
          <a:lstStyle/>
          <a:p>
            <a:pPr algn="l" indent="0" marL="0">
              <a:lnSpc>
                <a:spcPct val="108000"/>
              </a:lnSpc>
              <a:buNone/>
            </a:pPr>
            <a:r>
              <a:rPr lang="en-US" sz="2300" dirty="0">
                <a:solidFill>
                  <a:srgbClr val="FFFFFF"/>
                </a:solidFill>
                <a:latin typeface="Fira Sans" pitchFamily="34" charset="0"/>
                <a:ea typeface="Fira Sans" pitchFamily="34" charset="-122"/>
                <a:cs typeface="Fira Sans" pitchFamily="34" charset="-120"/>
              </a:rPr>
              <a:t>Read one truth</a:t>
            </a:r>
            <a:endParaRPr lang="en-US" sz="2300" dirty="0"/>
          </a:p>
        </p:txBody>
      </p:sp>
      <p:sp>
        <p:nvSpPr>
          <p:cNvPr id="19" name="Text 17"/>
          <p:cNvSpPr/>
          <p:nvPr/>
        </p:nvSpPr>
        <p:spPr>
          <a:xfrm>
            <a:off x="9245964" y="4509988"/>
            <a:ext cx="2488542" cy="120888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FFFFFF"/>
                </a:solidFill>
                <a:latin typeface="Fira Sans" pitchFamily="34" charset="0"/>
                <a:ea typeface="Fira Sans" pitchFamily="34" charset="-122"/>
                <a:cs typeface="Fira Sans" pitchFamily="34" charset="-120"/>
              </a:rPr>
              <a:t>Keep the balance in the ledger. Derive every statement from that ledger.</a:t>
            </a:r>
            <a:endParaRPr lang="en-US" sz="1700" dirty="0"/>
          </a:p>
        </p:txBody>
      </p:sp>
      <p:sp>
        <p:nvSpPr>
          <p:cNvPr id="20" name="Text 18"/>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algn="l" indent="0" marL="0">
              <a:lnSpc>
                <a:spcPct val="100000"/>
              </a:lnSpc>
              <a:buNone/>
            </a:pPr>
            <a:r>
              <a:rPr lang="en-US" sz="1250" spc="25" kern="0" dirty="0">
                <a:solidFill>
                  <a:srgbClr val="B94A0A"/>
                </a:solidFill>
                <a:latin typeface="Fira Mono Medium" pitchFamily="34" charset="0"/>
                <a:ea typeface="Fira Mono Medium" pitchFamily="34" charset="-122"/>
                <a:cs typeface="Fira Mono Medium" pitchFamily="34" charset="-120"/>
              </a:rPr>
              <a:t>THE DOMAIN MODEL</a:t>
            </a:r>
            <a:endParaRPr lang="en-US" sz="1250" dirty="0"/>
          </a:p>
        </p:txBody>
      </p:sp>
      <p:sp>
        <p:nvSpPr>
          <p:cNvPr id="3" name="Text 1"/>
          <p:cNvSpPr/>
          <p:nvPr/>
        </p:nvSpPr>
        <p:spPr>
          <a:xfrm>
            <a:off x="457189" y="749300"/>
            <a:ext cx="11277318" cy="408880"/>
          </a:xfrm>
          <a:prstGeom prst="rect">
            <a:avLst/>
          </a:prstGeom>
          <a:noFill/>
          <a:ln/>
        </p:spPr>
        <p:txBody>
          <a:bodyPr wrap="none" lIns="0" tIns="0" rIns="0" bIns="0" rtlCol="0" anchor="t"/>
          <a:lstStyle/>
          <a:p>
            <a:pPr algn="l" indent="0" marL="0">
              <a:lnSpc>
                <a:spcPct val="96000"/>
              </a:lnSpc>
              <a:buNone/>
            </a:pPr>
            <a:r>
              <a:rPr lang="en-US" sz="2800" spc="-28" kern="0" dirty="0">
                <a:solidFill>
                  <a:srgbClr val="1F2937"/>
                </a:solidFill>
                <a:latin typeface="Fira Sans SemiBold" pitchFamily="34" charset="0"/>
                <a:ea typeface="Fira Sans SemiBold" pitchFamily="34" charset="-122"/>
                <a:cs typeface="Fira Sans SemiBold" pitchFamily="34" charset="-120"/>
              </a:rPr>
              <a:t>The domain model stays small and explicit</a:t>
            </a:r>
            <a:endParaRPr lang="en-US" sz="2800" dirty="0"/>
          </a:p>
        </p:txBody>
      </p:sp>
      <p:sp>
        <p:nvSpPr>
          <p:cNvPr id="4" name="Text 2"/>
          <p:cNvSpPr/>
          <p:nvPr/>
        </p:nvSpPr>
        <p:spPr>
          <a:xfrm>
            <a:off x="457189" y="1412180"/>
            <a:ext cx="11734506" cy="302220"/>
          </a:xfrm>
          <a:prstGeom prst="rect">
            <a:avLst/>
          </a:prstGeom>
          <a:noFill/>
          <a:ln/>
        </p:spPr>
        <p:txBody>
          <a:bodyPr wrap="none" lIns="0" tIns="0" rIns="0" bIns="0" rtlCol="0" anchor="t"/>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Four objects give the project a clear vocabulary: record the money, enforce the rules, then read the result.</a:t>
            </a:r>
            <a:endParaRPr lang="en-US" sz="1700" dirty="0"/>
          </a:p>
        </p:txBody>
      </p:sp>
      <p:sp>
        <p:nvSpPr>
          <p:cNvPr id="5" name="Text 3"/>
          <p:cNvSpPr/>
          <p:nvPr/>
        </p:nvSpPr>
        <p:spPr>
          <a:xfrm>
            <a:off x="457189" y="1892201"/>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0A7C78"/>
                </a:solidFill>
                <a:latin typeface="Fira Sans SemiBold" pitchFamily="34" charset="0"/>
                <a:ea typeface="Fira Sans SemiBold" pitchFamily="34" charset="-122"/>
                <a:cs typeface="Fira Sans SemiBold" pitchFamily="34" charset="-120"/>
              </a:rPr>
              <a:t>01</a:t>
            </a:r>
            <a:endParaRPr lang="en-US" sz="1700" dirty="0"/>
          </a:p>
        </p:txBody>
      </p:sp>
      <p:sp>
        <p:nvSpPr>
          <p:cNvPr id="6" name="Shape 4"/>
          <p:cNvSpPr/>
          <p:nvPr/>
        </p:nvSpPr>
        <p:spPr>
          <a:xfrm>
            <a:off x="457189" y="2194421"/>
            <a:ext cx="2590735" cy="19050"/>
          </a:xfrm>
          <a:prstGeom prst="rect">
            <a:avLst/>
          </a:prstGeom>
          <a:solidFill>
            <a:srgbClr val="0A7C78"/>
          </a:solidFill>
          <a:ln/>
        </p:spPr>
      </p:sp>
      <p:sp>
        <p:nvSpPr>
          <p:cNvPr id="7" name="Text 5"/>
          <p:cNvSpPr/>
          <p:nvPr/>
        </p:nvSpPr>
        <p:spPr>
          <a:xfrm>
            <a:off x="457189" y="2342952"/>
            <a:ext cx="2590735"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Account</a:t>
            </a:r>
            <a:endParaRPr lang="en-US" sz="2300" dirty="0"/>
          </a:p>
        </p:txBody>
      </p:sp>
      <p:sp>
        <p:nvSpPr>
          <p:cNvPr id="8" name="Text 6"/>
          <p:cNvSpPr/>
          <p:nvPr/>
        </p:nvSpPr>
        <p:spPr>
          <a:xfrm>
            <a:off x="457189" y="2906812"/>
            <a:ext cx="2590735"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Id, owner, opening balance, and a ledger of transactions.</a:t>
            </a:r>
            <a:endParaRPr lang="en-US" sz="1700" dirty="0"/>
          </a:p>
        </p:txBody>
      </p:sp>
      <p:sp>
        <p:nvSpPr>
          <p:cNvPr id="9" name="Text 7"/>
          <p:cNvSpPr/>
          <p:nvPr/>
        </p:nvSpPr>
        <p:spPr>
          <a:xfrm>
            <a:off x="3352716" y="1892201"/>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0A7C78"/>
                </a:solidFill>
                <a:latin typeface="Fira Sans SemiBold" pitchFamily="34" charset="0"/>
                <a:ea typeface="Fira Sans SemiBold" pitchFamily="34" charset="-122"/>
                <a:cs typeface="Fira Sans SemiBold" pitchFamily="34" charset="-120"/>
              </a:rPr>
              <a:t>02</a:t>
            </a:r>
            <a:endParaRPr lang="en-US" sz="1700" dirty="0"/>
          </a:p>
        </p:txBody>
      </p:sp>
      <p:sp>
        <p:nvSpPr>
          <p:cNvPr id="10" name="Shape 8"/>
          <p:cNvSpPr/>
          <p:nvPr/>
        </p:nvSpPr>
        <p:spPr>
          <a:xfrm>
            <a:off x="3352716" y="2194421"/>
            <a:ext cx="2590735" cy="19050"/>
          </a:xfrm>
          <a:prstGeom prst="rect">
            <a:avLst/>
          </a:prstGeom>
          <a:solidFill>
            <a:srgbClr val="0A7C78"/>
          </a:solidFill>
          <a:ln/>
        </p:spPr>
      </p:sp>
      <p:sp>
        <p:nvSpPr>
          <p:cNvPr id="11" name="Text 9"/>
          <p:cNvSpPr/>
          <p:nvPr/>
        </p:nvSpPr>
        <p:spPr>
          <a:xfrm>
            <a:off x="3352716" y="2342952"/>
            <a:ext cx="2590735"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Ledger</a:t>
            </a:r>
            <a:endParaRPr lang="en-US" sz="2300" dirty="0"/>
          </a:p>
        </p:txBody>
      </p:sp>
      <p:sp>
        <p:nvSpPr>
          <p:cNvPr id="12" name="Text 10"/>
          <p:cNvSpPr/>
          <p:nvPr/>
        </p:nvSpPr>
        <p:spPr>
          <a:xfrm>
            <a:off x="3352716" y="2906812"/>
            <a:ext cx="2590735"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Ordered collection plus balance rules.</a:t>
            </a:r>
            <a:endParaRPr lang="en-US" sz="1700" dirty="0"/>
          </a:p>
        </p:txBody>
      </p:sp>
      <p:sp>
        <p:nvSpPr>
          <p:cNvPr id="13" name="Text 11"/>
          <p:cNvSpPr/>
          <p:nvPr/>
        </p:nvSpPr>
        <p:spPr>
          <a:xfrm>
            <a:off x="3352716" y="3660477"/>
            <a:ext cx="2590735" cy="412750"/>
          </a:xfrm>
          <a:prstGeom prst="rect">
            <a:avLst/>
          </a:prstGeom>
          <a:noFill/>
          <a:ln/>
        </p:spPr>
        <p:txBody>
          <a:bodyPr wrap="square" lIns="0" tIns="0" rIns="0" bIns="0" rtlCol="0" anchor="t">
            <a:normAutofit/>
          </a:bodyPr>
          <a:lstStyle/>
          <a:p>
            <a:pPr algn="l" indent="0" marL="0">
              <a:lnSpc>
                <a:spcPct val="108000"/>
              </a:lnSpc>
              <a:buNone/>
            </a:pPr>
            <a:r>
              <a:rPr lang="en-US" sz="1250" dirty="0">
                <a:solidFill>
                  <a:srgbClr val="1F2937"/>
                </a:solidFill>
                <a:highlight>
                  <a:srgbClr val="F3F5F8"/>
                </a:highlight>
                <a:latin typeface="Consolas" pitchFamily="34" charset="0"/>
                <a:ea typeface="Consolas" pitchFamily="34" charset="-122"/>
                <a:cs typeface="Consolas" pitchFamily="34" charset="-120"/>
              </a:rPr>
              <a:t>BigDecimal</a:t>
            </a:r>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 money · </a:t>
            </a:r>
            <a:pPr algn="l" indent="0" marL="0">
              <a:lnSpc>
                <a:spcPct val="108000"/>
              </a:lnSpc>
              <a:buNone/>
            </a:pPr>
            <a:r>
              <a:rPr lang="en-US" sz="1250" dirty="0">
                <a:solidFill>
                  <a:srgbClr val="1F2937"/>
                </a:solidFill>
                <a:highlight>
                  <a:srgbClr val="F3F5F8"/>
                </a:highlight>
                <a:latin typeface="Consolas" pitchFamily="34" charset="0"/>
                <a:ea typeface="Consolas" pitchFamily="34" charset="-122"/>
                <a:cs typeface="Consolas" pitchFamily="34" charset="-120"/>
              </a:rPr>
              <a:t>LocalDate</a:t>
            </a:r>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 dates</a:t>
            </a:r>
            <a:endParaRPr lang="en-US" sz="1250" dirty="0"/>
          </a:p>
        </p:txBody>
      </p:sp>
      <p:sp>
        <p:nvSpPr>
          <p:cNvPr id="14" name="Text 12"/>
          <p:cNvSpPr/>
          <p:nvPr/>
        </p:nvSpPr>
        <p:spPr>
          <a:xfrm>
            <a:off x="6248244" y="1892201"/>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0A7C78"/>
                </a:solidFill>
                <a:latin typeface="Fira Sans SemiBold" pitchFamily="34" charset="0"/>
                <a:ea typeface="Fira Sans SemiBold" pitchFamily="34" charset="-122"/>
                <a:cs typeface="Fira Sans SemiBold" pitchFamily="34" charset="-120"/>
              </a:rPr>
              <a:t>03</a:t>
            </a:r>
            <a:endParaRPr lang="en-US" sz="1700" dirty="0"/>
          </a:p>
        </p:txBody>
      </p:sp>
      <p:sp>
        <p:nvSpPr>
          <p:cNvPr id="15" name="Shape 13"/>
          <p:cNvSpPr/>
          <p:nvPr/>
        </p:nvSpPr>
        <p:spPr>
          <a:xfrm>
            <a:off x="6248244" y="2194421"/>
            <a:ext cx="2590735" cy="19050"/>
          </a:xfrm>
          <a:prstGeom prst="rect">
            <a:avLst/>
          </a:prstGeom>
          <a:solidFill>
            <a:srgbClr val="0A7C78"/>
          </a:solidFill>
          <a:ln/>
        </p:spPr>
      </p:sp>
      <p:sp>
        <p:nvSpPr>
          <p:cNvPr id="16" name="Text 14"/>
          <p:cNvSpPr/>
          <p:nvPr/>
        </p:nvSpPr>
        <p:spPr>
          <a:xfrm>
            <a:off x="6248244" y="2342952"/>
            <a:ext cx="2590735" cy="346670"/>
          </a:xfrm>
          <a:prstGeom prst="rect">
            <a:avLst/>
          </a:prstGeom>
          <a:noFill/>
          <a:ln/>
        </p:spPr>
        <p:txBody>
          <a:bodyPr wrap="none" lIns="0" tIns="0" rIns="0" bIns="0" rtlCol="0" anchor="t"/>
          <a:lstStyle/>
          <a:p>
            <a:pPr algn="l" indent="0" marL="0">
              <a:lnSpc>
                <a:spcPct val="108000"/>
              </a:lnSpc>
              <a:buNone/>
            </a:pPr>
            <a:r>
              <a:rPr lang="en-US" sz="2100" dirty="0">
                <a:solidFill>
                  <a:srgbClr val="1F2937"/>
                </a:solidFill>
                <a:latin typeface="Fira Sans" pitchFamily="34" charset="0"/>
                <a:ea typeface="Fira Sans" pitchFamily="34" charset="-122"/>
                <a:cs typeface="Fira Sans" pitchFamily="34" charset="-120"/>
              </a:rPr>
              <a:t>StatementGenerator</a:t>
            </a:r>
            <a:endParaRPr lang="en-US" sz="2100" dirty="0"/>
          </a:p>
        </p:txBody>
      </p:sp>
      <p:sp>
        <p:nvSpPr>
          <p:cNvPr id="17" name="Text 15"/>
          <p:cNvSpPr/>
          <p:nvPr/>
        </p:nvSpPr>
        <p:spPr>
          <a:xfrm>
            <a:off x="6248244" y="2873772"/>
            <a:ext cx="2590735"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Reads a period, filters rows, and calculates totals.</a:t>
            </a:r>
            <a:endParaRPr lang="en-US" sz="1700" dirty="0"/>
          </a:p>
        </p:txBody>
      </p:sp>
      <p:sp>
        <p:nvSpPr>
          <p:cNvPr id="18" name="Text 16"/>
          <p:cNvSpPr/>
          <p:nvPr/>
        </p:nvSpPr>
        <p:spPr>
          <a:xfrm>
            <a:off x="9143771" y="1892201"/>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0A7C78"/>
                </a:solidFill>
                <a:latin typeface="Fira Sans SemiBold" pitchFamily="34" charset="0"/>
                <a:ea typeface="Fira Sans SemiBold" pitchFamily="34" charset="-122"/>
                <a:cs typeface="Fira Sans SemiBold" pitchFamily="34" charset="-120"/>
              </a:rPr>
              <a:t>04</a:t>
            </a:r>
            <a:endParaRPr lang="en-US" sz="1700" dirty="0"/>
          </a:p>
        </p:txBody>
      </p:sp>
      <p:sp>
        <p:nvSpPr>
          <p:cNvPr id="19" name="Shape 17"/>
          <p:cNvSpPr/>
          <p:nvPr/>
        </p:nvSpPr>
        <p:spPr>
          <a:xfrm>
            <a:off x="9143771" y="2194421"/>
            <a:ext cx="2590735" cy="19050"/>
          </a:xfrm>
          <a:prstGeom prst="rect">
            <a:avLst/>
          </a:prstGeom>
          <a:solidFill>
            <a:srgbClr val="0A7C78"/>
          </a:solidFill>
          <a:ln/>
        </p:spPr>
      </p:sp>
      <p:sp>
        <p:nvSpPr>
          <p:cNvPr id="20" name="Text 18"/>
          <p:cNvSpPr/>
          <p:nvPr/>
        </p:nvSpPr>
        <p:spPr>
          <a:xfrm>
            <a:off x="9143771" y="2342952"/>
            <a:ext cx="2590735"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Statement</a:t>
            </a:r>
            <a:endParaRPr lang="en-US" sz="2300" dirty="0"/>
          </a:p>
        </p:txBody>
      </p:sp>
      <p:sp>
        <p:nvSpPr>
          <p:cNvPr id="21" name="Text 19"/>
          <p:cNvSpPr/>
          <p:nvPr/>
        </p:nvSpPr>
        <p:spPr>
          <a:xfrm>
            <a:off x="9143771" y="2906812"/>
            <a:ext cx="2590735" cy="120888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Opening balance, transaction rows, category totals, and closing balance.</a:t>
            </a:r>
            <a:endParaRPr lang="en-US" sz="1700" dirty="0"/>
          </a:p>
        </p:txBody>
      </p:sp>
      <p:sp>
        <p:nvSpPr>
          <p:cNvPr id="22" name="Text 20"/>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algn="l" indent="0" marL="0">
              <a:lnSpc>
                <a:spcPct val="100000"/>
              </a:lnSpc>
              <a:buNone/>
            </a:pPr>
            <a:r>
              <a:rPr lang="en-US" sz="1250" spc="25" kern="0" dirty="0">
                <a:solidFill>
                  <a:srgbClr val="B94A0A"/>
                </a:solidFill>
                <a:latin typeface="Fira Mono Medium" pitchFamily="34" charset="0"/>
                <a:ea typeface="Fira Mono Medium" pitchFamily="34" charset="-122"/>
                <a:cs typeface="Fira Mono Medium" pitchFamily="34" charset="-120"/>
              </a:rPr>
              <a:t>MUTATION AT THE BOUNDARY</a:t>
            </a:r>
            <a:endParaRPr lang="en-US" sz="1250" dirty="0"/>
          </a:p>
        </p:txBody>
      </p:sp>
      <p:sp>
        <p:nvSpPr>
          <p:cNvPr id="3" name="Text 1"/>
          <p:cNvSpPr/>
          <p:nvPr/>
        </p:nvSpPr>
        <p:spPr>
          <a:xfrm>
            <a:off x="457189" y="749300"/>
            <a:ext cx="11277318" cy="408880"/>
          </a:xfrm>
          <a:prstGeom prst="rect">
            <a:avLst/>
          </a:prstGeom>
          <a:noFill/>
          <a:ln/>
        </p:spPr>
        <p:txBody>
          <a:bodyPr wrap="none" lIns="0" tIns="0" rIns="0" bIns="0" rtlCol="0" anchor="t"/>
          <a:lstStyle/>
          <a:p>
            <a:pPr algn="l" indent="0" marL="0">
              <a:lnSpc>
                <a:spcPct val="96000"/>
              </a:lnSpc>
              <a:buNone/>
            </a:pPr>
            <a:r>
              <a:rPr lang="en-US" sz="2800" spc="-28" kern="0" dirty="0">
                <a:solidFill>
                  <a:srgbClr val="1F2937"/>
                </a:solidFill>
                <a:latin typeface="Fira Sans SemiBold" pitchFamily="34" charset="0"/>
                <a:ea typeface="Fira Sans SemiBold" pitchFamily="34" charset="-122"/>
                <a:cs typeface="Fira Sans SemiBold" pitchFamily="34" charset="-120"/>
              </a:rPr>
              <a:t>Ledger operations make the rules testable</a:t>
            </a:r>
            <a:endParaRPr lang="en-US" sz="2800" dirty="0"/>
          </a:p>
        </p:txBody>
      </p:sp>
      <p:sp>
        <p:nvSpPr>
          <p:cNvPr id="4" name="Shape 2"/>
          <p:cNvSpPr/>
          <p:nvPr/>
        </p:nvSpPr>
        <p:spPr>
          <a:xfrm>
            <a:off x="457189" y="1412180"/>
            <a:ext cx="5590440" cy="4988620"/>
          </a:xfrm>
          <a:prstGeom prst="rect">
            <a:avLst/>
          </a:prstGeom>
          <a:solidFill>
            <a:srgbClr val="2B3544"/>
          </a:solidFill>
          <a:ln/>
        </p:spPr>
      </p:sp>
      <p:sp>
        <p:nvSpPr>
          <p:cNvPr id="5" name="Text 3"/>
          <p:cNvSpPr/>
          <p:nvPr/>
        </p:nvSpPr>
        <p:spPr>
          <a:xfrm>
            <a:off x="457189" y="1412180"/>
            <a:ext cx="5590440" cy="441325"/>
          </a:xfrm>
          <a:prstGeom prst="rect">
            <a:avLst/>
          </a:prstGeom>
          <a:noFill/>
          <a:ln/>
        </p:spPr>
        <p:txBody>
          <a:bodyPr wrap="square" lIns="253994" tIns="126997" rIns="253994" bIns="101598" rtlCol="0" anchor="t">
            <a:normAutofit/>
          </a:bodyPr>
          <a:lstStyle/>
          <a:p>
            <a:pPr algn="l" indent="0" marL="0">
              <a:lnSpc>
                <a:spcPct val="108000"/>
              </a:lnSpc>
              <a:buNone/>
            </a:pPr>
            <a:r>
              <a:rPr lang="en-US" sz="1250" spc="25" kern="0" dirty="0">
                <a:solidFill>
                  <a:srgbClr val="FFFFFF"/>
                </a:solidFill>
                <a:latin typeface="Fira Mono" pitchFamily="34" charset="0"/>
                <a:ea typeface="Fira Mono" pitchFamily="34" charset="-122"/>
                <a:cs typeface="Fira Mono" pitchFamily="34" charset="-120"/>
              </a:rPr>
              <a:t>LedgerDemo.java</a:t>
            </a:r>
            <a:endParaRPr lang="en-US" sz="1250" dirty="0"/>
          </a:p>
        </p:txBody>
      </p:sp>
      <p:sp>
        <p:nvSpPr>
          <p:cNvPr id="6" name="Text 4"/>
          <p:cNvSpPr/>
          <p:nvPr/>
        </p:nvSpPr>
        <p:spPr>
          <a:xfrm>
            <a:off x="711182" y="1891605"/>
            <a:ext cx="5082453" cy="2133600"/>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E5EAF2"/>
                </a:solidFill>
                <a:latin typeface="Consolas" pitchFamily="34" charset="0"/>
                <a:ea typeface="Consolas" pitchFamily="34" charset="-122"/>
                <a:cs typeface="Consolas" pitchFamily="34" charset="-120"/>
              </a:rPr>
              <a:t>ledger.add(</a:t>
            </a:r>
            <a:endParaRPr lang="en-US" sz="1600" dirty="0"/>
          </a:p>
          <a:p>
            <a:pPr algn="l" indent="0" marL="0">
              <a:lnSpc>
                <a:spcPct val="125000"/>
              </a:lnSpc>
              <a:buNone/>
            </a:pPr>
            <a:r>
              <a:rPr lang="en-US" sz="1600" dirty="0">
                <a:solidFill>
                  <a:srgbClr val="E5EAF2"/>
                </a:solidFill>
                <a:latin typeface="Consolas" pitchFamily="34" charset="0"/>
                <a:ea typeface="Consolas" pitchFamily="34" charset="-122"/>
                <a:cs typeface="Consolas" pitchFamily="34" charset="-120"/>
              </a:rPr>
              <a:t>    Transaction.deposit(</a:t>
            </a:r>
            <a:endParaRPr lang="en-US" sz="1600" dirty="0"/>
          </a:p>
          <a:p>
            <a:pPr algn="l" indent="0" marL="0">
              <a:lnSpc>
                <a:spcPct val="125000"/>
              </a:lnSpc>
              <a:buNone/>
            </a:pPr>
            <a:r>
              <a:rPr lang="en-US" sz="1600" dirty="0">
                <a:solidFill>
                  <a:srgbClr val="E5EAF2"/>
                </a:solidFill>
                <a:latin typeface="Consolas" pitchFamily="34" charset="0"/>
                <a:ea typeface="Consolas" pitchFamily="34" charset="-122"/>
                <a:cs typeface="Consolas" pitchFamily="34" charset="-120"/>
              </a:rPr>
              <a:t>        date, amount, "Scholarship"</a:t>
            </a:r>
            <a:endParaRPr lang="en-US" sz="1600" dirty="0"/>
          </a:p>
          <a:p>
            <a:pPr algn="l" indent="0" marL="0">
              <a:lnSpc>
                <a:spcPct val="125000"/>
              </a:lnSpc>
              <a:buNone/>
            </a:pPr>
            <a:r>
              <a:rPr lang="en-US" sz="1600" dirty="0">
                <a:solidFill>
                  <a:srgbClr val="E5EAF2"/>
                </a:solidFill>
                <a:latin typeface="Consolas" pitchFamily="34" charset="0"/>
                <a:ea typeface="Consolas" pitchFamily="34" charset="-122"/>
                <a:cs typeface="Consolas" pitchFamily="34" charset="-120"/>
              </a:rPr>
              <a:t>    )</a:t>
            </a:r>
            <a:endParaRPr lang="en-US" sz="1600" dirty="0"/>
          </a:p>
          <a:p>
            <a:pPr algn="l" indent="0" marL="0">
              <a:lnSpc>
                <a:spcPct val="125000"/>
              </a:lnSpc>
              <a:buNone/>
            </a:pPr>
            <a:r>
              <a:rPr lang="en-US" sz="1600" dirty="0">
                <a:solidFill>
                  <a:srgbClr val="E5EAF2"/>
                </a:solidFill>
                <a:latin typeface="Consolas" pitchFamily="34" charset="0"/>
                <a:ea typeface="Consolas" pitchFamily="34" charset="-122"/>
                <a:cs typeface="Consolas" pitchFamily="34" charset="-120"/>
              </a:rPr>
              <a:t>);</a:t>
            </a:r>
            <a:endParaRPr lang="en-US" sz="1600" dirty="0"/>
          </a:p>
          <a:p>
            <a:pPr algn="l" indent="0" marL="0">
              <a:lnSpc>
                <a:spcPct val="125000"/>
              </a:lnSpc>
              <a:buNone/>
            </a:pPr>
            <a:endParaRPr lang="en-US" sz="1600" dirty="0"/>
          </a:p>
          <a:p>
            <a:pPr algn="l" indent="0" marL="0">
              <a:lnSpc>
                <a:spcPct val="125000"/>
              </a:lnSpc>
              <a:buNone/>
            </a:pPr>
            <a:r>
              <a:rPr lang="en-US" sz="1600" dirty="0">
                <a:solidFill>
                  <a:srgbClr val="E5EAF2"/>
                </a:solidFill>
                <a:latin typeface="Consolas" pitchFamily="34" charset="0"/>
                <a:ea typeface="Consolas" pitchFamily="34" charset="-122"/>
                <a:cs typeface="Consolas" pitchFamily="34" charset="-120"/>
              </a:rPr>
              <a:t>account.getBalance();</a:t>
            </a:r>
            <a:endParaRPr lang="en-US" sz="1600" dirty="0"/>
          </a:p>
        </p:txBody>
      </p:sp>
      <p:sp>
        <p:nvSpPr>
          <p:cNvPr id="7" name="Shape 5"/>
          <p:cNvSpPr/>
          <p:nvPr/>
        </p:nvSpPr>
        <p:spPr>
          <a:xfrm>
            <a:off x="6504718" y="1510605"/>
            <a:ext cx="279393" cy="279400"/>
          </a:xfrm>
          <a:prstGeom prst="ellipse">
            <a:avLst/>
          </a:prstGeom>
          <a:solidFill>
            <a:srgbClr val="0A7C78"/>
          </a:solidFill>
          <a:ln w="6350">
            <a:solidFill>
              <a:srgbClr val="D8D4D4"/>
            </a:solidFill>
            <a:prstDash val="solid"/>
          </a:ln>
        </p:spPr>
      </p:sp>
      <p:sp>
        <p:nvSpPr>
          <p:cNvPr id="8" name="Text 6"/>
          <p:cNvSpPr/>
          <p:nvPr/>
        </p:nvSpPr>
        <p:spPr>
          <a:xfrm>
            <a:off x="6599866" y="1570930"/>
            <a:ext cx="698582" cy="158750"/>
          </a:xfrm>
          <a:prstGeom prst="rect">
            <a:avLst/>
          </a:prstGeom>
          <a:noFill/>
          <a:ln/>
        </p:spPr>
        <p:txBody>
          <a:bodyPr wrap="none" lIns="0" tIns="0" rIns="0" bIns="0" rtlCol="0" anchor="t"/>
          <a:lstStyle/>
          <a:p>
            <a:pPr algn="l" indent="0" marL="0">
              <a:lnSpc>
                <a:spcPct val="83000"/>
              </a:lnSpc>
              <a:buNone/>
            </a:pPr>
            <a:r>
              <a:rPr lang="en-US" sz="1250" b="1" dirty="0">
                <a:solidFill>
                  <a:srgbClr val="FFFFFF"/>
                </a:solidFill>
                <a:latin typeface="Fira Sans Bold" pitchFamily="34" charset="0"/>
                <a:ea typeface="Fira Sans Bold" pitchFamily="34" charset="-122"/>
                <a:cs typeface="Fira Sans Bold" pitchFamily="34" charset="-120"/>
              </a:rPr>
              <a:t>1</a:t>
            </a:r>
            <a:endParaRPr lang="en-US" sz="1250" dirty="0"/>
          </a:p>
        </p:txBody>
      </p:sp>
      <p:sp>
        <p:nvSpPr>
          <p:cNvPr id="9" name="Text 7"/>
          <p:cNvSpPr/>
          <p:nvPr/>
        </p:nvSpPr>
        <p:spPr>
          <a:xfrm>
            <a:off x="6936507" y="1412180"/>
            <a:ext cx="4797999"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Deposit</a:t>
            </a:r>
            <a:endParaRPr lang="en-US" sz="2300" dirty="0"/>
          </a:p>
        </p:txBody>
      </p:sp>
      <p:sp>
        <p:nvSpPr>
          <p:cNvPr id="10" name="Text 8"/>
          <p:cNvSpPr/>
          <p:nvPr/>
        </p:nvSpPr>
        <p:spPr>
          <a:xfrm>
            <a:off x="6936507" y="1976041"/>
            <a:ext cx="4797999"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Accept positive income and increase the balance.</a:t>
            </a:r>
            <a:endParaRPr lang="en-US" sz="1700" dirty="0"/>
          </a:p>
        </p:txBody>
      </p:sp>
      <p:sp>
        <p:nvSpPr>
          <p:cNvPr id="11" name="Shape 9"/>
          <p:cNvSpPr/>
          <p:nvPr/>
        </p:nvSpPr>
        <p:spPr>
          <a:xfrm>
            <a:off x="6504718" y="3325813"/>
            <a:ext cx="279393" cy="279400"/>
          </a:xfrm>
          <a:prstGeom prst="ellipse">
            <a:avLst/>
          </a:prstGeom>
          <a:solidFill>
            <a:srgbClr val="0A7C78"/>
          </a:solidFill>
          <a:ln w="6350">
            <a:solidFill>
              <a:srgbClr val="D8D4D4"/>
            </a:solidFill>
            <a:prstDash val="solid"/>
          </a:ln>
        </p:spPr>
      </p:sp>
      <p:sp>
        <p:nvSpPr>
          <p:cNvPr id="12" name="Text 10"/>
          <p:cNvSpPr/>
          <p:nvPr/>
        </p:nvSpPr>
        <p:spPr>
          <a:xfrm>
            <a:off x="6599866" y="3386138"/>
            <a:ext cx="698582" cy="158750"/>
          </a:xfrm>
          <a:prstGeom prst="rect">
            <a:avLst/>
          </a:prstGeom>
          <a:noFill/>
          <a:ln/>
        </p:spPr>
        <p:txBody>
          <a:bodyPr wrap="none" lIns="0" tIns="0" rIns="0" bIns="0" rtlCol="0" anchor="t"/>
          <a:lstStyle/>
          <a:p>
            <a:pPr algn="l" indent="0" marL="0">
              <a:lnSpc>
                <a:spcPct val="83000"/>
              </a:lnSpc>
              <a:buNone/>
            </a:pPr>
            <a:r>
              <a:rPr lang="en-US" sz="1250" b="1" dirty="0">
                <a:solidFill>
                  <a:srgbClr val="FFFFFF"/>
                </a:solidFill>
                <a:latin typeface="Fira Sans Bold" pitchFamily="34" charset="0"/>
                <a:ea typeface="Fira Sans Bold" pitchFamily="34" charset="-122"/>
                <a:cs typeface="Fira Sans Bold" pitchFamily="34" charset="-120"/>
              </a:rPr>
              <a:t>2</a:t>
            </a:r>
            <a:endParaRPr lang="en-US" sz="1250" dirty="0"/>
          </a:p>
        </p:txBody>
      </p:sp>
      <p:sp>
        <p:nvSpPr>
          <p:cNvPr id="13" name="Text 11"/>
          <p:cNvSpPr/>
          <p:nvPr/>
        </p:nvSpPr>
        <p:spPr>
          <a:xfrm>
            <a:off x="6936507" y="3227388"/>
            <a:ext cx="4797999"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Withdraw</a:t>
            </a:r>
            <a:endParaRPr lang="en-US" sz="2300" dirty="0"/>
          </a:p>
        </p:txBody>
      </p:sp>
      <p:sp>
        <p:nvSpPr>
          <p:cNvPr id="14" name="Text 12"/>
          <p:cNvSpPr/>
          <p:nvPr/>
        </p:nvSpPr>
        <p:spPr>
          <a:xfrm>
            <a:off x="6936507" y="3791248"/>
            <a:ext cx="4797999"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Reject negative values and insufficient funds before state changes.</a:t>
            </a:r>
            <a:endParaRPr lang="en-US" sz="1700" dirty="0"/>
          </a:p>
        </p:txBody>
      </p:sp>
      <p:sp>
        <p:nvSpPr>
          <p:cNvPr id="15" name="Shape 13"/>
          <p:cNvSpPr/>
          <p:nvPr/>
        </p:nvSpPr>
        <p:spPr>
          <a:xfrm>
            <a:off x="6504718" y="5141119"/>
            <a:ext cx="279393" cy="279400"/>
          </a:xfrm>
          <a:prstGeom prst="ellipse">
            <a:avLst/>
          </a:prstGeom>
          <a:solidFill>
            <a:srgbClr val="0A7C78"/>
          </a:solidFill>
          <a:ln w="6350">
            <a:solidFill>
              <a:srgbClr val="D8D4D4"/>
            </a:solidFill>
            <a:prstDash val="solid"/>
          </a:ln>
        </p:spPr>
      </p:sp>
      <p:sp>
        <p:nvSpPr>
          <p:cNvPr id="16" name="Text 14"/>
          <p:cNvSpPr/>
          <p:nvPr/>
        </p:nvSpPr>
        <p:spPr>
          <a:xfrm>
            <a:off x="6599866" y="5201444"/>
            <a:ext cx="698582" cy="158750"/>
          </a:xfrm>
          <a:prstGeom prst="rect">
            <a:avLst/>
          </a:prstGeom>
          <a:noFill/>
          <a:ln/>
        </p:spPr>
        <p:txBody>
          <a:bodyPr wrap="none" lIns="0" tIns="0" rIns="0" bIns="0" rtlCol="0" anchor="t"/>
          <a:lstStyle/>
          <a:p>
            <a:pPr algn="l" indent="0" marL="0">
              <a:lnSpc>
                <a:spcPct val="83000"/>
              </a:lnSpc>
              <a:buNone/>
            </a:pPr>
            <a:r>
              <a:rPr lang="en-US" sz="1250" b="1" dirty="0">
                <a:solidFill>
                  <a:srgbClr val="FFFFFF"/>
                </a:solidFill>
                <a:latin typeface="Fira Sans Bold" pitchFamily="34" charset="0"/>
                <a:ea typeface="Fira Sans Bold" pitchFamily="34" charset="-122"/>
                <a:cs typeface="Fira Sans Bold" pitchFamily="34" charset="-120"/>
              </a:rPr>
              <a:t>3</a:t>
            </a:r>
            <a:endParaRPr lang="en-US" sz="1250" dirty="0"/>
          </a:p>
        </p:txBody>
      </p:sp>
      <p:sp>
        <p:nvSpPr>
          <p:cNvPr id="17" name="Text 15"/>
          <p:cNvSpPr/>
          <p:nvPr/>
        </p:nvSpPr>
        <p:spPr>
          <a:xfrm>
            <a:off x="6936507" y="5042694"/>
            <a:ext cx="4797999"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Transfer</a:t>
            </a:r>
            <a:endParaRPr lang="en-US" sz="2300" dirty="0"/>
          </a:p>
        </p:txBody>
      </p:sp>
      <p:sp>
        <p:nvSpPr>
          <p:cNvPr id="18" name="Text 16"/>
          <p:cNvSpPr/>
          <p:nvPr/>
        </p:nvSpPr>
        <p:spPr>
          <a:xfrm>
            <a:off x="6936507" y="5606554"/>
            <a:ext cx="4797999"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Record a paired debit and credit so both accounts stay consistent.</a:t>
            </a:r>
            <a:endParaRPr lang="en-US" sz="1700" dirty="0"/>
          </a:p>
        </p:txBody>
      </p:sp>
      <p:sp>
        <p:nvSpPr>
          <p:cNvPr id="19" name="Shape 17"/>
          <p:cNvSpPr/>
          <p:nvPr/>
        </p:nvSpPr>
        <p:spPr>
          <a:xfrm>
            <a:off x="6504718" y="2992438"/>
            <a:ext cx="5229789" cy="12700"/>
          </a:xfrm>
          <a:prstGeom prst="rect">
            <a:avLst/>
          </a:prstGeom>
          <a:solidFill>
            <a:srgbClr val="CBD3DE"/>
          </a:solidFill>
          <a:ln/>
        </p:spPr>
      </p:sp>
      <p:sp>
        <p:nvSpPr>
          <p:cNvPr id="20" name="Shape 18"/>
          <p:cNvSpPr/>
          <p:nvPr/>
        </p:nvSpPr>
        <p:spPr>
          <a:xfrm>
            <a:off x="6504718" y="4807744"/>
            <a:ext cx="5229789" cy="12700"/>
          </a:xfrm>
          <a:prstGeom prst="rect">
            <a:avLst/>
          </a:prstGeom>
          <a:solidFill>
            <a:srgbClr val="CBD3DE"/>
          </a:solidFill>
          <a:ln/>
        </p:spPr>
      </p:sp>
      <p:sp>
        <p:nvSpPr>
          <p:cNvPr id="21" name="Text 19"/>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algn="l" indent="0" marL="0">
              <a:lnSpc>
                <a:spcPct val="100000"/>
              </a:lnSpc>
              <a:buNone/>
            </a:pPr>
            <a:r>
              <a:rPr lang="en-US" sz="1250" spc="25" kern="0" dirty="0">
                <a:solidFill>
                  <a:srgbClr val="B94A0A"/>
                </a:solidFill>
                <a:latin typeface="Fira Mono Medium" pitchFamily="34" charset="0"/>
                <a:ea typeface="Fira Mono Medium" pitchFamily="34" charset="-122"/>
                <a:cs typeface="Fira Mono Medium" pitchFamily="34" charset="-120"/>
              </a:rPr>
              <a:t>READ-ONLY REPORTING</a:t>
            </a:r>
            <a:endParaRPr lang="en-US" sz="1250" dirty="0"/>
          </a:p>
        </p:txBody>
      </p:sp>
      <p:sp>
        <p:nvSpPr>
          <p:cNvPr id="3" name="Text 1"/>
          <p:cNvSpPr/>
          <p:nvPr/>
        </p:nvSpPr>
        <p:spPr>
          <a:xfrm>
            <a:off x="457189" y="749300"/>
            <a:ext cx="11277318" cy="408880"/>
          </a:xfrm>
          <a:prstGeom prst="rect">
            <a:avLst/>
          </a:prstGeom>
          <a:noFill/>
          <a:ln/>
        </p:spPr>
        <p:txBody>
          <a:bodyPr wrap="none" lIns="0" tIns="0" rIns="0" bIns="0" rtlCol="0" anchor="t"/>
          <a:lstStyle/>
          <a:p>
            <a:pPr algn="l" indent="0" marL="0">
              <a:lnSpc>
                <a:spcPct val="96000"/>
              </a:lnSpc>
              <a:buNone/>
            </a:pPr>
            <a:r>
              <a:rPr lang="en-US" sz="2800" spc="-28" kern="0" dirty="0">
                <a:solidFill>
                  <a:srgbClr val="1F2937"/>
                </a:solidFill>
                <a:latin typeface="Fira Sans SemiBold" pitchFamily="34" charset="0"/>
                <a:ea typeface="Fira Sans SemiBold" pitchFamily="34" charset="-122"/>
                <a:cs typeface="Fira Sans SemiBold" pitchFamily="34" charset="-120"/>
              </a:rPr>
              <a:t>The statement generator is a pure read of the ledger</a:t>
            </a:r>
            <a:endParaRPr lang="en-US" sz="2800" dirty="0"/>
          </a:p>
        </p:txBody>
      </p:sp>
      <p:sp>
        <p:nvSpPr>
          <p:cNvPr id="4" name="Shape 2"/>
          <p:cNvSpPr/>
          <p:nvPr/>
        </p:nvSpPr>
        <p:spPr>
          <a:xfrm>
            <a:off x="457189" y="1412180"/>
            <a:ext cx="5049414" cy="4988620"/>
          </a:xfrm>
          <a:prstGeom prst="rect">
            <a:avLst/>
          </a:prstGeom>
          <a:solidFill>
            <a:srgbClr val="2B3544"/>
          </a:solidFill>
          <a:ln/>
        </p:spPr>
      </p:sp>
      <p:sp>
        <p:nvSpPr>
          <p:cNvPr id="5" name="Text 3"/>
          <p:cNvSpPr/>
          <p:nvPr/>
        </p:nvSpPr>
        <p:spPr>
          <a:xfrm>
            <a:off x="457189" y="1412180"/>
            <a:ext cx="5049414" cy="441325"/>
          </a:xfrm>
          <a:prstGeom prst="rect">
            <a:avLst/>
          </a:prstGeom>
          <a:noFill/>
          <a:ln/>
        </p:spPr>
        <p:txBody>
          <a:bodyPr wrap="square" lIns="253994" tIns="126997" rIns="253994" bIns="101598" rtlCol="0" anchor="t">
            <a:normAutofit/>
          </a:bodyPr>
          <a:lstStyle/>
          <a:p>
            <a:pPr algn="l" indent="0" marL="0">
              <a:lnSpc>
                <a:spcPct val="108000"/>
              </a:lnSpc>
              <a:buNone/>
            </a:pPr>
            <a:r>
              <a:rPr lang="en-US" sz="1250" spc="25" kern="0" dirty="0">
                <a:solidFill>
                  <a:srgbClr val="FFFFFF"/>
                </a:solidFill>
                <a:latin typeface="Fira Mono" pitchFamily="34" charset="0"/>
                <a:ea typeface="Fira Mono" pitchFamily="34" charset="-122"/>
                <a:cs typeface="Fira Mono" pitchFamily="34" charset="-120"/>
              </a:rPr>
              <a:t>StatementGenerator.java</a:t>
            </a:r>
            <a:endParaRPr lang="en-US" sz="1250" dirty="0"/>
          </a:p>
        </p:txBody>
      </p:sp>
      <p:sp>
        <p:nvSpPr>
          <p:cNvPr id="6" name="Text 4"/>
          <p:cNvSpPr/>
          <p:nvPr/>
        </p:nvSpPr>
        <p:spPr>
          <a:xfrm>
            <a:off x="711182" y="1891605"/>
            <a:ext cx="4541426" cy="1524000"/>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E5EAF2"/>
                </a:solidFill>
                <a:latin typeface="Consolas" pitchFamily="34" charset="0"/>
                <a:ea typeface="Consolas" pitchFamily="34" charset="-122"/>
                <a:cs typeface="Consolas" pitchFamily="34" charset="-120"/>
              </a:rPr>
              <a:t>Statement generate(</a:t>
            </a:r>
            <a:endParaRPr lang="en-US" sz="1600" dirty="0"/>
          </a:p>
          <a:p>
            <a:pPr algn="l" indent="0" marL="0">
              <a:lnSpc>
                <a:spcPct val="125000"/>
              </a:lnSpc>
              <a:buNone/>
            </a:pPr>
            <a:r>
              <a:rPr lang="en-US" sz="1600" dirty="0">
                <a:solidFill>
                  <a:srgbClr val="E5EAF2"/>
                </a:solidFill>
                <a:latin typeface="Consolas" pitchFamily="34" charset="0"/>
                <a:ea typeface="Consolas" pitchFamily="34" charset="-122"/>
                <a:cs typeface="Consolas" pitchFamily="34" charset="-120"/>
              </a:rPr>
              <a:t>    Account account,</a:t>
            </a:r>
            <a:endParaRPr lang="en-US" sz="1600" dirty="0"/>
          </a:p>
          <a:p>
            <a:pPr algn="l" indent="0" marL="0">
              <a:lnSpc>
                <a:spcPct val="125000"/>
              </a:lnSpc>
              <a:buNone/>
            </a:pPr>
            <a:r>
              <a:rPr lang="en-US" sz="1600" dirty="0">
                <a:solidFill>
                  <a:srgbClr val="E5EAF2"/>
                </a:solidFill>
                <a:latin typeface="Consolas" pitchFamily="34" charset="0"/>
                <a:ea typeface="Consolas" pitchFamily="34" charset="-122"/>
                <a:cs typeface="Consolas" pitchFamily="34" charset="-120"/>
              </a:rPr>
              <a:t>    LocalDate from,</a:t>
            </a:r>
            <a:endParaRPr lang="en-US" sz="1600" dirty="0"/>
          </a:p>
          <a:p>
            <a:pPr algn="l" indent="0" marL="0">
              <a:lnSpc>
                <a:spcPct val="125000"/>
              </a:lnSpc>
              <a:buNone/>
            </a:pPr>
            <a:r>
              <a:rPr lang="en-US" sz="1600" dirty="0">
                <a:solidFill>
                  <a:srgbClr val="E5EAF2"/>
                </a:solidFill>
                <a:latin typeface="Consolas" pitchFamily="34" charset="0"/>
                <a:ea typeface="Consolas" pitchFamily="34" charset="-122"/>
                <a:cs typeface="Consolas" pitchFamily="34" charset="-120"/>
              </a:rPr>
              <a:t>    LocalDate to</a:t>
            </a:r>
            <a:endParaRPr lang="en-US" sz="1600" dirty="0"/>
          </a:p>
          <a:p>
            <a:pPr algn="l" indent="0" marL="0">
              <a:lnSpc>
                <a:spcPct val="125000"/>
              </a:lnSpc>
              <a:buNone/>
            </a:pPr>
            <a:r>
              <a:rPr lang="en-US" sz="1600" dirty="0">
                <a:solidFill>
                  <a:srgbClr val="E5EAF2"/>
                </a:solidFill>
                <a:latin typeface="Consolas" pitchFamily="34" charset="0"/>
                <a:ea typeface="Consolas" pitchFamily="34" charset="-122"/>
                <a:cs typeface="Consolas" pitchFamily="34" charset="-120"/>
              </a:rPr>
              <a:t>)</a:t>
            </a:r>
            <a:endParaRPr lang="en-US" sz="1600" dirty="0"/>
          </a:p>
        </p:txBody>
      </p:sp>
      <p:sp>
        <p:nvSpPr>
          <p:cNvPr id="7" name="Shape 5"/>
          <p:cNvSpPr/>
          <p:nvPr/>
        </p:nvSpPr>
        <p:spPr>
          <a:xfrm>
            <a:off x="457189" y="3453705"/>
            <a:ext cx="5049414" cy="685800"/>
          </a:xfrm>
          <a:prstGeom prst="rect">
            <a:avLst/>
          </a:prstGeom>
          <a:solidFill>
            <a:srgbClr val="0A7C78">
              <a:alpha val="16000"/>
            </a:srgbClr>
          </a:solidFill>
          <a:ln/>
        </p:spPr>
      </p:sp>
      <p:sp>
        <p:nvSpPr>
          <p:cNvPr id="8" name="Shape 6"/>
          <p:cNvSpPr/>
          <p:nvPr/>
        </p:nvSpPr>
        <p:spPr>
          <a:xfrm>
            <a:off x="457189" y="3453705"/>
            <a:ext cx="38099" cy="685800"/>
          </a:xfrm>
          <a:prstGeom prst="rect">
            <a:avLst/>
          </a:prstGeom>
          <a:solidFill>
            <a:srgbClr val="0A7C78"/>
          </a:solidFill>
          <a:ln/>
        </p:spPr>
      </p:sp>
      <p:sp>
        <p:nvSpPr>
          <p:cNvPr id="9" name="Text 7"/>
          <p:cNvSpPr/>
          <p:nvPr/>
        </p:nvSpPr>
        <p:spPr>
          <a:xfrm>
            <a:off x="711182" y="3491805"/>
            <a:ext cx="4541426" cy="609600"/>
          </a:xfrm>
          <a:prstGeom prst="rect">
            <a:avLst/>
          </a:prstGeom>
          <a:noFill/>
          <a:ln/>
        </p:spPr>
        <p:txBody>
          <a:bodyPr wrap="square" lIns="0" tIns="0" rIns="0" bIns="0" rtlCol="0" anchor="t">
            <a:normAutofit/>
          </a:bodyPr>
          <a:lstStyle/>
          <a:p>
            <a:pPr algn="l" indent="0" marL="0">
              <a:lnSpc>
                <a:spcPct val="125000"/>
              </a:lnSpc>
              <a:buNone/>
            </a:pPr>
            <a:r>
              <a:rPr lang="en-US" sz="1600" dirty="0">
                <a:solidFill>
                  <a:srgbClr val="94A1B3"/>
                </a:solidFill>
                <a:latin typeface="Consolas Medium" pitchFamily="34" charset="0"/>
                <a:ea typeface="Consolas Medium" pitchFamily="34" charset="-122"/>
                <a:cs typeface="Consolas Medium" pitchFamily="34" charset="-120"/>
              </a:rPr>
              <a:t>// select, total, group</a:t>
            </a:r>
            <a:endParaRPr lang="en-US" sz="1600" dirty="0"/>
          </a:p>
          <a:p>
            <a:pPr algn="l" indent="0" marL="0">
              <a:lnSpc>
                <a:spcPct val="125000"/>
              </a:lnSpc>
              <a:buNone/>
            </a:pPr>
            <a:r>
              <a:rPr lang="en-US" sz="1600" dirty="0">
                <a:solidFill>
                  <a:srgbClr val="94A1B3"/>
                </a:solidFill>
                <a:latin typeface="Consolas Medium" pitchFamily="34" charset="0"/>
                <a:ea typeface="Consolas Medium" pitchFamily="34" charset="-122"/>
                <a:cs typeface="Consolas Medium" pitchFamily="34" charset="-120"/>
              </a:rPr>
              <a:t>// never mutate account</a:t>
            </a:r>
            <a:endParaRPr lang="en-US" sz="1600" dirty="0"/>
          </a:p>
        </p:txBody>
      </p:sp>
      <p:sp>
        <p:nvSpPr>
          <p:cNvPr id="10" name="Text 8"/>
          <p:cNvSpPr/>
          <p:nvPr/>
        </p:nvSpPr>
        <p:spPr>
          <a:xfrm>
            <a:off x="5963691" y="1640780"/>
            <a:ext cx="6228004" cy="302220"/>
          </a:xfrm>
          <a:prstGeom prst="rect">
            <a:avLst/>
          </a:prstGeom>
          <a:noFill/>
          <a:ln/>
        </p:spPr>
        <p:txBody>
          <a:bodyPr wrap="none" lIns="0" tIns="0" rIns="0" bIns="0" rtlCol="0" anchor="t"/>
          <a:lstStyle/>
          <a:p>
            <a:pPr algn="l" indent="0" marL="0">
              <a:lnSpc>
                <a:spcPct val="117000"/>
              </a:lnSpc>
              <a:buNone/>
            </a:pPr>
            <a:r>
              <a:rPr lang="en-US" sz="1700" spc="34" kern="0" dirty="0">
                <a:solidFill>
                  <a:srgbClr val="1F2937"/>
                </a:solidFill>
                <a:latin typeface="Fira Mono" pitchFamily="34" charset="0"/>
                <a:ea typeface="Fira Mono" pitchFamily="34" charset="-122"/>
                <a:cs typeface="Fira Mono" pitchFamily="34" charset="-120"/>
              </a:rPr>
              <a:t>MAY · EXAMPLE OUTPUT</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63691" y="2092226"/>
          <a:ext cx="9143771" cy="914400"/>
        </p:xfrm>
        <a:graphic>
          <a:graphicData uri="http://schemas.openxmlformats.org/drawingml/2006/table">
            <a:tbl>
              <a:tblPr/>
              <a:tblGrid>
                <a:gridCol w="2623098"/>
                <a:gridCol w="1573859"/>
                <a:gridCol w="1573859"/>
              </a:tblGrid>
              <a:tr h="384761">
                <a:tc>
                  <a:txBody>
                    <a:bodyPr/>
                    <a:lstStyle/>
                    <a:p>
                      <a:pPr indent="0" marL="0">
                        <a:buNone/>
                      </a:pPr>
                      <a:r>
                        <a:rPr lang="en-US" sz="1700" dirty="0">
                          <a:solidFill>
                            <a:srgbClr val="5B6577"/>
                          </a:solidFill>
                          <a:latin typeface="Fira Mono" pitchFamily="34" charset="0"/>
                          <a:ea typeface="Fira Mono" pitchFamily="34" charset="-122"/>
                          <a:cs typeface="Fira Mono" pitchFamily="34" charset="-120"/>
                        </a:rPr>
                        <a:t>measure</a:t>
                      </a:r>
                      <a:endParaRPr lang="en-US" sz="1700" dirty="0">
                        <a:latin typeface="Fira Mono" charset="0"/>
                        <a:ea typeface="Fira Mono" charset="0"/>
                        <a:cs typeface="Fira Mono" charset="0"/>
                      </a:endParaRPr>
                    </a:p>
                  </a:txBody>
                  <a:tcPr marL="101598" marR="101598" marT="38099" marB="38099"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c>
                  <a:txBody>
                    <a:bodyPr/>
                    <a:lstStyle/>
                    <a:p>
                      <a:pPr indent="0" marL="0">
                        <a:buNone/>
                      </a:pPr>
                      <a:r>
                        <a:rPr lang="en-US" sz="1700" dirty="0">
                          <a:solidFill>
                            <a:srgbClr val="5B6577"/>
                          </a:solidFill>
                          <a:latin typeface="Fira Mono" pitchFamily="34" charset="0"/>
                          <a:ea typeface="Fira Mono" pitchFamily="34" charset="-122"/>
                          <a:cs typeface="Fira Mono" pitchFamily="34" charset="-120"/>
                        </a:rPr>
                        <a:t>amount</a:t>
                      </a:r>
                      <a:endParaRPr lang="en-US" sz="1700" dirty="0">
                        <a:latin typeface="Fira Mono" charset="0"/>
                        <a:ea typeface="Fira Mono" charset="0"/>
                        <a:cs typeface="Fira Mono" charset="0"/>
                      </a:endParaRPr>
                    </a:p>
                  </a:txBody>
                  <a:tcPr marL="101598" marR="101598" marT="38099" marB="38099"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c>
                  <a:txBody>
                    <a:bodyPr/>
                    <a:lstStyle/>
                    <a:p>
                      <a:pPr indent="0" marL="0">
                        <a:buNone/>
                      </a:pPr>
                      <a:r>
                        <a:rPr lang="en-US" sz="1700" dirty="0">
                          <a:solidFill>
                            <a:srgbClr val="5B6577"/>
                          </a:solidFill>
                          <a:latin typeface="Fira Mono" pitchFamily="34" charset="0"/>
                          <a:ea typeface="Fira Mono" pitchFamily="34" charset="-122"/>
                          <a:cs typeface="Fira Mono" pitchFamily="34" charset="-120"/>
                        </a:rPr>
                        <a:t>meaning</a:t>
                      </a:r>
                      <a:endParaRPr lang="en-US" sz="1700" dirty="0">
                        <a:latin typeface="Fira Mono" charset="0"/>
                        <a:ea typeface="Fira Mono" charset="0"/>
                        <a:cs typeface="Fira Mono" charset="0"/>
                      </a:endParaRPr>
                    </a:p>
                  </a:txBody>
                  <a:tcPr marL="101598" marR="101598" marT="38099" marB="38099"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r>
              <a:tr h="989186">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Opening balance</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500.00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balance before range</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r>
              <a:tr h="686973">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Credits</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1,200.00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income in range</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r>
              <a:tr h="686973">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Debits</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750.00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spending in range</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r>
              <a:tr h="686973">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Closing balance</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950.00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reconciled result</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12" name="Text 9"/>
          <p:cNvSpPr/>
          <p:nvPr/>
        </p:nvSpPr>
        <p:spPr>
          <a:xfrm>
            <a:off x="5963691" y="5676404"/>
            <a:ext cx="6228004"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The same report can render as text, CSV, or a table.</a:t>
            </a:r>
            <a:endParaRPr lang="en-US" sz="1250" dirty="0"/>
          </a:p>
        </p:txBody>
      </p:sp>
      <p:sp>
        <p:nvSpPr>
          <p:cNvPr id="13" name="Text 10"/>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algn="l" indent="0" marL="0">
              <a:lnSpc>
                <a:spcPct val="100000"/>
              </a:lnSpc>
              <a:buNone/>
            </a:pPr>
            <a:r>
              <a:rPr lang="en-US" sz="1250" spc="25" kern="0" dirty="0">
                <a:solidFill>
                  <a:srgbClr val="B94A0A"/>
                </a:solidFill>
                <a:latin typeface="Fira Mono Medium" pitchFamily="34" charset="0"/>
                <a:ea typeface="Fira Mono Medium" pitchFamily="34" charset="-122"/>
                <a:cs typeface="Fira Mono Medium" pitchFamily="34" charset="-120"/>
              </a:rPr>
              <a:t>CASE STUDY 1 · ILLUSTRATIVE USD DATA</a:t>
            </a:r>
            <a:endParaRPr lang="en-US" sz="1250" dirty="0"/>
          </a:p>
        </p:txBody>
      </p:sp>
      <p:sp>
        <p:nvSpPr>
          <p:cNvPr id="3" name="Text 1"/>
          <p:cNvSpPr/>
          <p:nvPr/>
        </p:nvSpPr>
        <p:spPr>
          <a:xfrm>
            <a:off x="457189" y="749300"/>
            <a:ext cx="11277318" cy="408880"/>
          </a:xfrm>
          <a:prstGeom prst="rect">
            <a:avLst/>
          </a:prstGeom>
          <a:noFill/>
          <a:ln/>
        </p:spPr>
        <p:txBody>
          <a:bodyPr wrap="none" lIns="0" tIns="0" rIns="0" bIns="0" rtlCol="0" anchor="t"/>
          <a:lstStyle/>
          <a:p>
            <a:pPr algn="l" indent="0" marL="0">
              <a:lnSpc>
                <a:spcPct val="96000"/>
              </a:lnSpc>
              <a:buNone/>
            </a:pPr>
            <a:r>
              <a:rPr lang="en-US" sz="2800" spc="-28" kern="0" dirty="0">
                <a:solidFill>
                  <a:srgbClr val="1F2937"/>
                </a:solidFill>
                <a:latin typeface="Fira Sans SemiBold" pitchFamily="34" charset="0"/>
                <a:ea typeface="Fira Sans SemiBold" pitchFamily="34" charset="-122"/>
                <a:cs typeface="Fira Sans SemiBold" pitchFamily="34" charset="-120"/>
              </a:rPr>
              <a:t>Student budget tracker</a:t>
            </a:r>
            <a:endParaRPr lang="en-US" sz="2800" dirty="0"/>
          </a:p>
        </p:txBody>
      </p:sp>
      <p:sp>
        <p:nvSpPr>
          <p:cNvPr id="4" name="Text 2"/>
          <p:cNvSpPr/>
          <p:nvPr/>
        </p:nvSpPr>
        <p:spPr>
          <a:xfrm>
            <a:off x="457189" y="1412180"/>
            <a:ext cx="4147736"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A student tracks a part-time paycheck, rent, groceries, and transport in one monthly account.</a:t>
            </a:r>
            <a:endParaRPr lang="en-US" sz="1700" dirty="0"/>
          </a:p>
        </p:txBody>
      </p:sp>
      <p:sp>
        <p:nvSpPr>
          <p:cNvPr id="5" name="Text 3"/>
          <p:cNvSpPr/>
          <p:nvPr/>
        </p:nvSpPr>
        <p:spPr>
          <a:xfrm>
            <a:off x="457189" y="2468066"/>
            <a:ext cx="1845224" cy="1119981"/>
          </a:xfrm>
          <a:prstGeom prst="rect">
            <a:avLst/>
          </a:prstGeom>
          <a:noFill/>
          <a:ln/>
        </p:spPr>
        <p:txBody>
          <a:bodyPr wrap="square" lIns="0" tIns="0" rIns="0" bIns="0" rtlCol="0" anchor="t">
            <a:normAutofit/>
          </a:bodyPr>
          <a:lstStyle/>
          <a:p>
            <a:pPr algn="l" indent="0" marL="0">
              <a:lnSpc>
                <a:spcPct val="87000"/>
              </a:lnSpc>
              <a:buNone/>
            </a:pPr>
            <a:r>
              <a:rPr lang="en-US" sz="4200" spc="-84" kern="0" dirty="0">
                <a:solidFill>
                  <a:srgbClr val="1F2937"/>
                </a:solidFill>
                <a:latin typeface="Fira Mono" pitchFamily="34" charset="0"/>
                <a:ea typeface="Fira Mono" pitchFamily="34" charset="-122"/>
                <a:cs typeface="Fira Mono" pitchFamily="34" charset="-120"/>
              </a:rPr>
              <a:t>950.00</a:t>
            </a:r>
            <a:endParaRPr lang="en-US" sz="4200" dirty="0"/>
          </a:p>
        </p:txBody>
      </p:sp>
      <p:sp>
        <p:nvSpPr>
          <p:cNvPr id="6" name="Text 4"/>
          <p:cNvSpPr/>
          <p:nvPr/>
        </p:nvSpPr>
        <p:spPr>
          <a:xfrm>
            <a:off x="457189" y="3842048"/>
            <a:ext cx="2454809"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closing balance</a:t>
            </a:r>
            <a:endParaRPr lang="en-US" sz="1250" dirty="0"/>
          </a:p>
        </p:txBody>
      </p:sp>
      <p:sp>
        <p:nvSpPr>
          <p:cNvPr id="7" name="Text 5"/>
          <p:cNvSpPr/>
          <p:nvPr/>
        </p:nvSpPr>
        <p:spPr>
          <a:xfrm>
            <a:off x="2759601" y="2468066"/>
            <a:ext cx="1845323" cy="1119981"/>
          </a:xfrm>
          <a:prstGeom prst="rect">
            <a:avLst/>
          </a:prstGeom>
          <a:noFill/>
          <a:ln/>
        </p:spPr>
        <p:txBody>
          <a:bodyPr wrap="square" lIns="0" tIns="0" rIns="0" bIns="0" rtlCol="0" anchor="t">
            <a:normAutofit/>
          </a:bodyPr>
          <a:lstStyle/>
          <a:p>
            <a:pPr algn="l" indent="0" marL="0">
              <a:lnSpc>
                <a:spcPct val="87000"/>
              </a:lnSpc>
              <a:buNone/>
            </a:pPr>
            <a:r>
              <a:rPr lang="en-US" sz="4200" spc="-84" kern="0" dirty="0">
                <a:solidFill>
                  <a:srgbClr val="1F2937"/>
                </a:solidFill>
                <a:latin typeface="Fira Mono" pitchFamily="34" charset="0"/>
                <a:ea typeface="Fira Mono" pitchFamily="34" charset="-122"/>
                <a:cs typeface="Fira Mono" pitchFamily="34" charset="-120"/>
              </a:rPr>
              <a:t>750.00</a:t>
            </a:r>
            <a:endParaRPr lang="en-US" sz="4200" dirty="0"/>
          </a:p>
        </p:txBody>
      </p:sp>
      <p:sp>
        <p:nvSpPr>
          <p:cNvPr id="8" name="Text 6"/>
          <p:cNvSpPr/>
          <p:nvPr/>
        </p:nvSpPr>
        <p:spPr>
          <a:xfrm>
            <a:off x="2759601" y="3842048"/>
            <a:ext cx="2454908"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total spending</a:t>
            </a:r>
            <a:endParaRPr lang="en-US" sz="1250" dirty="0"/>
          </a:p>
        </p:txBody>
      </p:sp>
      <p:sp>
        <p:nvSpPr>
          <p:cNvPr id="9" name="Text 7"/>
          <p:cNvSpPr/>
          <p:nvPr/>
        </p:nvSpPr>
        <p:spPr>
          <a:xfrm>
            <a:off x="457189" y="4197648"/>
            <a:ext cx="4757321"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Largest category: rent · total income: 1,200.00</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62014" y="1412180"/>
          <a:ext cx="9143771" cy="914400"/>
        </p:xfrm>
        <a:graphic>
          <a:graphicData uri="http://schemas.openxmlformats.org/drawingml/2006/table">
            <a:tbl>
              <a:tblPr/>
              <a:tblGrid>
                <a:gridCol w="1201049"/>
                <a:gridCol w="1868298"/>
                <a:gridCol w="1201049"/>
                <a:gridCol w="934149"/>
                <a:gridCol w="1467948"/>
              </a:tblGrid>
              <a:tr h="384761">
                <a:tc>
                  <a:txBody>
                    <a:bodyPr/>
                    <a:lstStyle/>
                    <a:p>
                      <a:pPr indent="0" marL="0">
                        <a:buNone/>
                      </a:pPr>
                      <a:r>
                        <a:rPr lang="en-US" sz="1700" dirty="0">
                          <a:solidFill>
                            <a:srgbClr val="5B6577"/>
                          </a:solidFill>
                          <a:latin typeface="Fira Mono" pitchFamily="34" charset="0"/>
                          <a:ea typeface="Fira Mono" pitchFamily="34" charset="-122"/>
                          <a:cs typeface="Fira Mono" pitchFamily="34" charset="-120"/>
                        </a:rPr>
                        <a:t>Date</a:t>
                      </a:r>
                      <a:endParaRPr lang="en-US" sz="1700" dirty="0">
                        <a:latin typeface="Fira Mono" charset="0"/>
                        <a:ea typeface="Fira Mono" charset="0"/>
                        <a:cs typeface="Fira Mono" charset="0"/>
                      </a:endParaRPr>
                    </a:p>
                  </a:txBody>
                  <a:tcPr marL="101598" marR="101598" marT="38099" marB="38099"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c>
                  <a:txBody>
                    <a:bodyPr/>
                    <a:lstStyle/>
                    <a:p>
                      <a:pPr indent="0" marL="0">
                        <a:buNone/>
                      </a:pPr>
                      <a:r>
                        <a:rPr lang="en-US" sz="1700" dirty="0">
                          <a:solidFill>
                            <a:srgbClr val="5B6577"/>
                          </a:solidFill>
                          <a:latin typeface="Fira Mono" pitchFamily="34" charset="0"/>
                          <a:ea typeface="Fira Mono" pitchFamily="34" charset="-122"/>
                          <a:cs typeface="Fira Mono" pitchFamily="34" charset="-120"/>
                        </a:rPr>
                        <a:t>Description</a:t>
                      </a:r>
                      <a:endParaRPr lang="en-US" sz="1700" dirty="0">
                        <a:latin typeface="Fira Mono" charset="0"/>
                        <a:ea typeface="Fira Mono" charset="0"/>
                        <a:cs typeface="Fira Mono" charset="0"/>
                      </a:endParaRPr>
                    </a:p>
                  </a:txBody>
                  <a:tcPr marL="101598" marR="101598" marT="38099" marB="38099"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c>
                  <a:txBody>
                    <a:bodyPr/>
                    <a:lstStyle/>
                    <a:p>
                      <a:pPr indent="0" marL="0">
                        <a:buNone/>
                      </a:pPr>
                      <a:r>
                        <a:rPr lang="en-US" sz="1700" dirty="0">
                          <a:solidFill>
                            <a:srgbClr val="5B6577"/>
                          </a:solidFill>
                          <a:latin typeface="Fira Mono" pitchFamily="34" charset="0"/>
                          <a:ea typeface="Fira Mono" pitchFamily="34" charset="-122"/>
                          <a:cs typeface="Fira Mono" pitchFamily="34" charset="-120"/>
                        </a:rPr>
                        <a:t>Category</a:t>
                      </a:r>
                      <a:endParaRPr lang="en-US" sz="1700" dirty="0">
                        <a:latin typeface="Fira Mono" charset="0"/>
                        <a:ea typeface="Fira Mono" charset="0"/>
                        <a:cs typeface="Fira Mono" charset="0"/>
                      </a:endParaRPr>
                    </a:p>
                  </a:txBody>
                  <a:tcPr marL="101598" marR="101598" marT="38099" marB="38099"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c>
                  <a:txBody>
                    <a:bodyPr/>
                    <a:lstStyle/>
                    <a:p>
                      <a:pPr indent="0" marL="0">
                        <a:buNone/>
                      </a:pPr>
                      <a:r>
                        <a:rPr lang="en-US" sz="1700" dirty="0">
                          <a:solidFill>
                            <a:srgbClr val="5B6577"/>
                          </a:solidFill>
                          <a:latin typeface="Fira Mono" pitchFamily="34" charset="0"/>
                          <a:ea typeface="Fira Mono" pitchFamily="34" charset="-122"/>
                          <a:cs typeface="Fira Mono" pitchFamily="34" charset="-120"/>
                        </a:rPr>
                        <a:t>Amount</a:t>
                      </a:r>
                      <a:endParaRPr lang="en-US" sz="1700" dirty="0">
                        <a:latin typeface="Fira Mono" charset="0"/>
                        <a:ea typeface="Fira Mono" charset="0"/>
                        <a:cs typeface="Fira Mono" charset="0"/>
                      </a:endParaRPr>
                    </a:p>
                  </a:txBody>
                  <a:tcPr marL="101598" marR="101598" marT="38099" marB="38099"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c>
                  <a:txBody>
                    <a:bodyPr/>
                    <a:lstStyle/>
                    <a:p>
                      <a:pPr indent="0" marL="0">
                        <a:buNone/>
                      </a:pPr>
                      <a:r>
                        <a:rPr lang="en-US" sz="1700" dirty="0">
                          <a:solidFill>
                            <a:srgbClr val="5B6577"/>
                          </a:solidFill>
                          <a:latin typeface="Fira Mono" pitchFamily="34" charset="0"/>
                          <a:ea typeface="Fira Mono" pitchFamily="34" charset="-122"/>
                          <a:cs typeface="Fira Mono" pitchFamily="34" charset="-120"/>
                        </a:rPr>
                        <a:t>Balance</a:t>
                      </a:r>
                      <a:endParaRPr lang="en-US" sz="1700" dirty="0">
                        <a:latin typeface="Fira Mono" charset="0"/>
                        <a:ea typeface="Fira Mono" charset="0"/>
                        <a:cs typeface="Fira Mono" charset="0"/>
                      </a:endParaRPr>
                    </a:p>
                  </a:txBody>
                  <a:tcPr marL="101598" marR="101598" marT="38099" marB="38099"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r>
              <a:tr h="686973">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May 01</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Opening balance</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500.00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500.00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r>
              <a:tr h="686973">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May 05</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Part-time paycheck</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Income</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+1,200.00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1,700.00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r>
              <a:tr h="686973">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May 06</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Rent</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Housing</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-450.00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1,250.00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r>
              <a:tr h="686973">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May 12</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Groceries</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Food</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-220.00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1,030.00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r>
              <a:tr h="686973">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May 18</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Transport</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Travel</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-80.00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950.00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11" name="Text 8"/>
          <p:cNvSpPr/>
          <p:nvPr/>
        </p:nvSpPr>
        <p:spPr>
          <a:xfrm>
            <a:off x="457189" y="6194425"/>
            <a:ext cx="11734506"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Interview point: one ledger supports both a live balance and a category summary without duplicate calculations.</a:t>
            </a:r>
            <a:endParaRPr lang="en-US" sz="1250" dirty="0"/>
          </a:p>
        </p:txBody>
      </p:sp>
      <p:sp>
        <p:nvSpPr>
          <p:cNvPr id="12" name="Shape 9"/>
          <p:cNvSpPr/>
          <p:nvPr/>
        </p:nvSpPr>
        <p:spPr>
          <a:xfrm>
            <a:off x="2524657" y="2468066"/>
            <a:ext cx="12700" cy="1580356"/>
          </a:xfrm>
          <a:prstGeom prst="rect">
            <a:avLst/>
          </a:prstGeom>
          <a:solidFill>
            <a:srgbClr val="CBD3DE"/>
          </a:solidFill>
          <a:ln/>
        </p:spPr>
      </p:sp>
      <p:sp>
        <p:nvSpPr>
          <p:cNvPr id="13" name="Text 10"/>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algn="l" indent="0" marL="0">
              <a:lnSpc>
                <a:spcPct val="100000"/>
              </a:lnSpc>
              <a:buNone/>
            </a:pPr>
            <a:r>
              <a:rPr lang="en-US" sz="1250" spc="25" kern="0" dirty="0">
                <a:solidFill>
                  <a:srgbClr val="B94A0A"/>
                </a:solidFill>
                <a:latin typeface="Fira Mono Medium" pitchFamily="34" charset="0"/>
                <a:ea typeface="Fira Mono Medium" pitchFamily="34" charset="-122"/>
                <a:cs typeface="Fira Mono Medium" pitchFamily="34" charset="-120"/>
              </a:rPr>
              <a:t>CASE STUDY 2 · ILLUSTRATIVE USD DATA</a:t>
            </a:r>
            <a:endParaRPr lang="en-US" sz="1250" dirty="0"/>
          </a:p>
        </p:txBody>
      </p:sp>
      <p:sp>
        <p:nvSpPr>
          <p:cNvPr id="3" name="Text 1"/>
          <p:cNvSpPr/>
          <p:nvPr/>
        </p:nvSpPr>
        <p:spPr>
          <a:xfrm>
            <a:off x="457189" y="749300"/>
            <a:ext cx="11277318" cy="408880"/>
          </a:xfrm>
          <a:prstGeom prst="rect">
            <a:avLst/>
          </a:prstGeom>
          <a:noFill/>
          <a:ln/>
        </p:spPr>
        <p:txBody>
          <a:bodyPr wrap="none" lIns="0" tIns="0" rIns="0" bIns="0" rtlCol="0" anchor="t"/>
          <a:lstStyle/>
          <a:p>
            <a:pPr algn="l" indent="0" marL="0">
              <a:lnSpc>
                <a:spcPct val="96000"/>
              </a:lnSpc>
              <a:buNone/>
            </a:pPr>
            <a:r>
              <a:rPr lang="en-US" sz="2800" spc="-28" kern="0" dirty="0">
                <a:solidFill>
                  <a:srgbClr val="1F2937"/>
                </a:solidFill>
                <a:latin typeface="Fira Sans SemiBold" pitchFamily="34" charset="0"/>
                <a:ea typeface="Fira Sans SemiBold" pitchFamily="34" charset="-122"/>
                <a:cs typeface="Fira Sans SemiBold" pitchFamily="34" charset="-120"/>
              </a:rPr>
              <a:t>Family monthly banking</a:t>
            </a:r>
            <a:endParaRPr lang="en-US" sz="2800" dirty="0"/>
          </a:p>
        </p:txBody>
      </p:sp>
      <p:sp>
        <p:nvSpPr>
          <p:cNvPr id="4" name="Text 2"/>
          <p:cNvSpPr/>
          <p:nvPr/>
        </p:nvSpPr>
        <p:spPr>
          <a:xfrm>
            <a:off x="457189" y="1412180"/>
            <a:ext cx="4147736"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A family combines salary income, household bills, groceries, and a transfer to savings.</a:t>
            </a:r>
            <a:endParaRPr lang="en-US" sz="1700" dirty="0"/>
          </a:p>
        </p:txBody>
      </p:sp>
      <p:sp>
        <p:nvSpPr>
          <p:cNvPr id="5" name="Text 3"/>
          <p:cNvSpPr/>
          <p:nvPr/>
        </p:nvSpPr>
        <p:spPr>
          <a:xfrm>
            <a:off x="457189" y="2547441"/>
            <a:ext cx="4147736" cy="666750"/>
          </a:xfrm>
          <a:prstGeom prst="rect">
            <a:avLst/>
          </a:prstGeom>
          <a:noFill/>
          <a:ln/>
        </p:spPr>
        <p:txBody>
          <a:bodyPr wrap="none" lIns="0" tIns="0" rIns="0" bIns="0" rtlCol="0" anchor="t"/>
          <a:lstStyle/>
          <a:p>
            <a:pPr algn="l" indent="0" marL="0">
              <a:lnSpc>
                <a:spcPct val="87000"/>
              </a:lnSpc>
              <a:buNone/>
            </a:pPr>
            <a:r>
              <a:rPr lang="en-US" sz="5000" spc="-75" kern="0" dirty="0">
                <a:solidFill>
                  <a:srgbClr val="1F2937"/>
                </a:solidFill>
                <a:latin typeface="Fira Sans SemiBold" pitchFamily="34" charset="0"/>
                <a:ea typeface="Fira Sans SemiBold" pitchFamily="34" charset="-122"/>
                <a:cs typeface="Fira Sans SemiBold" pitchFamily="34" charset="-120"/>
              </a:rPr>
              <a:t>7,840.00</a:t>
            </a:r>
            <a:endParaRPr lang="en-US" sz="5000" dirty="0"/>
          </a:p>
        </p:txBody>
      </p:sp>
      <p:sp>
        <p:nvSpPr>
          <p:cNvPr id="6" name="Text 4"/>
          <p:cNvSpPr/>
          <p:nvPr/>
        </p:nvSpPr>
        <p:spPr>
          <a:xfrm>
            <a:off x="457189" y="3468191"/>
            <a:ext cx="4757321"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closing balance</a:t>
            </a:r>
            <a:endParaRPr lang="en-US" sz="1250" dirty="0"/>
          </a:p>
        </p:txBody>
      </p:sp>
      <p:sp>
        <p:nvSpPr>
          <p:cNvPr id="7" name="Shape 5"/>
          <p:cNvSpPr/>
          <p:nvPr/>
        </p:nvSpPr>
        <p:spPr>
          <a:xfrm>
            <a:off x="457189" y="3877766"/>
            <a:ext cx="1368688" cy="38100"/>
          </a:xfrm>
          <a:prstGeom prst="roundRect">
            <a:avLst>
              <a:gd name="adj" fmla="val 49999"/>
            </a:avLst>
          </a:prstGeom>
          <a:solidFill>
            <a:srgbClr val="0A7C78"/>
          </a:solidFill>
          <a:ln/>
        </p:spPr>
      </p:sp>
      <p:sp>
        <p:nvSpPr>
          <p:cNvPr id="8" name="Text 6"/>
          <p:cNvSpPr/>
          <p:nvPr/>
        </p:nvSpPr>
        <p:spPr>
          <a:xfrm>
            <a:off x="457189" y="4119066"/>
            <a:ext cx="4147736"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Spending stays separate from the internal savings transfer.</a:t>
            </a:r>
            <a:endParaRPr lang="en-US" sz="1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62014" y="1412180"/>
          <a:ext cx="9143771" cy="914400"/>
        </p:xfrm>
        <a:graphic>
          <a:graphicData uri="http://schemas.openxmlformats.org/drawingml/2006/table">
            <a:tbl>
              <a:tblPr/>
              <a:tblGrid>
                <a:gridCol w="1467948"/>
                <a:gridCol w="1134324"/>
                <a:gridCol w="1201049"/>
                <a:gridCol w="2869172"/>
              </a:tblGrid>
              <a:tr h="686973">
                <a:tc>
                  <a:txBody>
                    <a:bodyPr/>
                    <a:lstStyle/>
                    <a:p>
                      <a:pPr indent="0" marL="0">
                        <a:buNone/>
                      </a:pPr>
                      <a:r>
                        <a:rPr lang="en-US" sz="1700" dirty="0">
                          <a:solidFill>
                            <a:srgbClr val="5B6577"/>
                          </a:solidFill>
                          <a:latin typeface="Fira Mono" pitchFamily="34" charset="0"/>
                          <a:ea typeface="Fira Mono" pitchFamily="34" charset="-122"/>
                          <a:cs typeface="Fira Mono" pitchFamily="34" charset="-120"/>
                        </a:rPr>
                        <a:t>Type</a:t>
                      </a:r>
                      <a:endParaRPr lang="en-US" sz="1700" dirty="0">
                        <a:latin typeface="Fira Mono" charset="0"/>
                        <a:ea typeface="Fira Mono" charset="0"/>
                        <a:cs typeface="Fira Mono" charset="0"/>
                      </a:endParaRPr>
                    </a:p>
                  </a:txBody>
                  <a:tcPr marL="101598" marR="101598" marT="38099" marB="38099"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c>
                  <a:txBody>
                    <a:bodyPr/>
                    <a:lstStyle/>
                    <a:p>
                      <a:pPr indent="0" marL="0">
                        <a:buNone/>
                      </a:pPr>
                      <a:r>
                        <a:rPr lang="en-US" sz="1700" dirty="0">
                          <a:solidFill>
                            <a:srgbClr val="5B6577"/>
                          </a:solidFill>
                          <a:latin typeface="Fira Mono" pitchFamily="34" charset="0"/>
                          <a:ea typeface="Fira Mono" pitchFamily="34" charset="-122"/>
                          <a:cs typeface="Fira Mono" pitchFamily="34" charset="-120"/>
                        </a:rPr>
                        <a:t>Amount</a:t>
                      </a:r>
                      <a:endParaRPr lang="en-US" sz="1700" dirty="0">
                        <a:latin typeface="Fira Mono" charset="0"/>
                        <a:ea typeface="Fira Mono" charset="0"/>
                        <a:cs typeface="Fira Mono" charset="0"/>
                      </a:endParaRPr>
                    </a:p>
                  </a:txBody>
                  <a:tcPr marL="101598" marR="101598" marT="38099" marB="38099"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c>
                  <a:txBody>
                    <a:bodyPr/>
                    <a:lstStyle/>
                    <a:p>
                      <a:pPr indent="0" marL="0">
                        <a:buNone/>
                      </a:pPr>
                      <a:r>
                        <a:rPr lang="en-US" sz="1700" dirty="0">
                          <a:solidFill>
                            <a:srgbClr val="5B6577"/>
                          </a:solidFill>
                          <a:latin typeface="Fira Mono" pitchFamily="34" charset="0"/>
                          <a:ea typeface="Fira Mono" pitchFamily="34" charset="-122"/>
                          <a:cs typeface="Fira Mono" pitchFamily="34" charset="-120"/>
                        </a:rPr>
                        <a:t>Category</a:t>
                      </a:r>
                      <a:endParaRPr lang="en-US" sz="1700" dirty="0">
                        <a:latin typeface="Fira Mono" charset="0"/>
                        <a:ea typeface="Fira Mono" charset="0"/>
                        <a:cs typeface="Fira Mono" charset="0"/>
                      </a:endParaRPr>
                    </a:p>
                  </a:txBody>
                  <a:tcPr marL="101598" marR="101598" marT="38099" marB="38099"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c>
                  <a:txBody>
                    <a:bodyPr/>
                    <a:lstStyle/>
                    <a:p>
                      <a:pPr indent="0" marL="0">
                        <a:buNone/>
                      </a:pPr>
                      <a:r>
                        <a:rPr lang="en-US" sz="1700" dirty="0">
                          <a:solidFill>
                            <a:srgbClr val="5B6577"/>
                          </a:solidFill>
                          <a:latin typeface="Fira Mono" pitchFamily="34" charset="0"/>
                          <a:ea typeface="Fira Mono" pitchFamily="34" charset="-122"/>
                          <a:cs typeface="Fira Mono" pitchFamily="34" charset="-120"/>
                        </a:rPr>
                        <a:t>Statement treatment</a:t>
                      </a:r>
                      <a:endParaRPr lang="en-US" sz="1700" dirty="0">
                        <a:latin typeface="Fira Mono" charset="0"/>
                        <a:ea typeface="Fira Mono" charset="0"/>
                        <a:cs typeface="Fira Mono" charset="0"/>
                      </a:endParaRPr>
                    </a:p>
                  </a:txBody>
                  <a:tcPr marL="101598" marR="101598" marT="38099" marB="38099" anchor="ctr">
                    <a:lnL w="12700" cap="flat" cmpd="sng" algn="ctr">
                      <a:solidFill>
                        <a:srgbClr val="F3F5F8"/>
                      </a:solidFill>
                      <a:prstDash val="solid"/>
                      <a:round/>
                      <a:headEnd type="none" w="med" len="med"/>
                      <a:tailEnd type="none" w="med" len="med"/>
                    </a:lnL>
                    <a:lnR w="12700" cap="flat" cmpd="sng" algn="ctr">
                      <a:solidFill>
                        <a:srgbClr val="F3F5F8"/>
                      </a:solidFill>
                      <a:prstDash val="solid"/>
                      <a:round/>
                      <a:headEnd type="none" w="med" len="med"/>
                      <a:tailEnd type="none" w="med" len="med"/>
                    </a:lnR>
                    <a:lnT w="12700" cap="flat" cmpd="sng" algn="ctr">
                      <a:solidFill>
                        <a:srgbClr val="F3F5F8"/>
                      </a:solidFill>
                      <a:prstDash val="solid"/>
                      <a:round/>
                      <a:headEnd type="none" w="med" len="med"/>
                      <a:tailEnd type="none" w="med" len="med"/>
                    </a:lnT>
                    <a:lnB w="12700" cap="flat" cmpd="sng" algn="ctr">
                      <a:solidFill>
                        <a:srgbClr val="CBD3DE"/>
                      </a:solidFill>
                      <a:prstDash val="solid"/>
                      <a:round/>
                      <a:headEnd type="none" w="med" len="med"/>
                      <a:tailEnd type="none" w="med" len="med"/>
                    </a:lnB>
                    <a:solidFill>
                      <a:srgbClr val="F3F5F8"/>
                    </a:solidFill>
                  </a:tcPr>
                </a:tc>
              </a:tr>
              <a:tr h="384761">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Salary</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+5,000.00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Income</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Credit</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r>
              <a:tr h="384761">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Utilities</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-320.00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Bills</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Debit</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r>
              <a:tr h="384761">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Groceries</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-640.00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Food</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Debit</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r>
              <a:tr h="686973">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Savings transfer</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-1,000.00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Transfer</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Separate from spending</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CBD3DE"/>
                      </a:solidFill>
                      <a:prstDash val="solid"/>
                      <a:round/>
                      <a:headEnd type="none" w="med" len="med"/>
                      <a:tailEnd type="none" w="med" len="med"/>
                    </a:lnB>
                  </a:tcPr>
                </a:tc>
              </a:tr>
              <a:tr h="686973">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Closing balance</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7,840.00</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700" dirty="0">
                          <a:solidFill>
                            <a:srgbClr val="1F2937"/>
                          </a:solidFill>
                          <a:latin typeface="Fira Mono" pitchFamily="34" charset="0"/>
                          <a:ea typeface="Fira Mono" pitchFamily="34" charset="-122"/>
                          <a:cs typeface="Fira Mono" pitchFamily="34" charset="-120"/>
                        </a:rPr>
                        <a:t>Reconciled</a:t>
                      </a:r>
                      <a:endParaRPr lang="en-US" sz="1700" dirty="0">
                        <a:latin typeface="Fira Mono" charset="0"/>
                        <a:ea typeface="Fira Mono" charset="0"/>
                        <a:cs typeface="Fira Mono" charset="0"/>
                      </a:endParaRPr>
                    </a:p>
                  </a:txBody>
                  <a:tcPr marL="101598" marR="101598"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CBD3DE"/>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10" name="Text 7"/>
          <p:cNvSpPr/>
          <p:nvPr/>
        </p:nvSpPr>
        <p:spPr>
          <a:xfrm>
            <a:off x="457189" y="6194425"/>
            <a:ext cx="11734506"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Interview point: transaction types and categories support both reconciliation and budgeting.</a:t>
            </a:r>
            <a:endParaRPr lang="en-US" sz="1250" dirty="0"/>
          </a:p>
        </p:txBody>
      </p:sp>
      <p:sp>
        <p:nvSpPr>
          <p:cNvPr id="11" name="Text 8"/>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algn="l" indent="0" marL="0">
              <a:lnSpc>
                <a:spcPct val="100000"/>
              </a:lnSpc>
              <a:buNone/>
            </a:pPr>
            <a:r>
              <a:rPr lang="en-US" sz="1250" spc="25" kern="0" dirty="0">
                <a:solidFill>
                  <a:srgbClr val="B94A0A"/>
                </a:solidFill>
                <a:latin typeface="Fira Mono Medium" pitchFamily="34" charset="0"/>
                <a:ea typeface="Fira Mono Medium" pitchFamily="34" charset="-122"/>
                <a:cs typeface="Fira Mono Medium" pitchFamily="34" charset="-120"/>
              </a:rPr>
              <a:t>THE DEMO STORY</a:t>
            </a:r>
            <a:endParaRPr lang="en-US" sz="1250" dirty="0"/>
          </a:p>
        </p:txBody>
      </p:sp>
      <p:sp>
        <p:nvSpPr>
          <p:cNvPr id="3" name="Text 1"/>
          <p:cNvSpPr/>
          <p:nvPr/>
        </p:nvSpPr>
        <p:spPr>
          <a:xfrm>
            <a:off x="457189" y="749300"/>
            <a:ext cx="11277318" cy="408880"/>
          </a:xfrm>
          <a:prstGeom prst="rect">
            <a:avLst/>
          </a:prstGeom>
          <a:noFill/>
          <a:ln/>
        </p:spPr>
        <p:txBody>
          <a:bodyPr wrap="none" lIns="0" tIns="0" rIns="0" bIns="0" rtlCol="0" anchor="t"/>
          <a:lstStyle/>
          <a:p>
            <a:pPr algn="l" indent="0" marL="0">
              <a:lnSpc>
                <a:spcPct val="96000"/>
              </a:lnSpc>
              <a:buNone/>
            </a:pPr>
            <a:r>
              <a:rPr lang="en-US" sz="2800" spc="-28" kern="0" dirty="0">
                <a:solidFill>
                  <a:srgbClr val="1F2937"/>
                </a:solidFill>
                <a:latin typeface="Fira Sans SemiBold" pitchFamily="34" charset="0"/>
                <a:ea typeface="Fira Sans SemiBold" pitchFamily="34" charset="-122"/>
                <a:cs typeface="Fira Sans SemiBold" pitchFamily="34" charset="-120"/>
              </a:rPr>
              <a:t>From Java classes to a defensible project demo</a:t>
            </a:r>
            <a:endParaRPr lang="en-US" sz="2800" dirty="0"/>
          </a:p>
        </p:txBody>
      </p:sp>
      <p:sp>
        <p:nvSpPr>
          <p:cNvPr id="4" name="Text 2"/>
          <p:cNvSpPr/>
          <p:nvPr/>
        </p:nvSpPr>
        <p:spPr>
          <a:xfrm>
            <a:off x="457189" y="1412180"/>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0A7C78"/>
                </a:solidFill>
                <a:latin typeface="Fira Sans SemiBold" pitchFamily="34" charset="0"/>
                <a:ea typeface="Fira Sans SemiBold" pitchFamily="34" charset="-122"/>
                <a:cs typeface="Fira Sans SemiBold" pitchFamily="34" charset="-120"/>
              </a:rPr>
              <a:t>01</a:t>
            </a:r>
            <a:endParaRPr lang="en-US" sz="1700" dirty="0"/>
          </a:p>
        </p:txBody>
      </p:sp>
      <p:sp>
        <p:nvSpPr>
          <p:cNvPr id="5" name="Shape 3"/>
          <p:cNvSpPr/>
          <p:nvPr/>
        </p:nvSpPr>
        <p:spPr>
          <a:xfrm>
            <a:off x="457189" y="1714401"/>
            <a:ext cx="1394385" cy="19050"/>
          </a:xfrm>
          <a:prstGeom prst="rect">
            <a:avLst/>
          </a:prstGeom>
          <a:solidFill>
            <a:srgbClr val="0A7C78"/>
          </a:solidFill>
          <a:ln/>
        </p:spPr>
      </p:sp>
      <p:sp>
        <p:nvSpPr>
          <p:cNvPr id="6" name="Text 4"/>
          <p:cNvSpPr/>
          <p:nvPr/>
        </p:nvSpPr>
        <p:spPr>
          <a:xfrm>
            <a:off x="457189" y="1862931"/>
            <a:ext cx="1394385"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Create</a:t>
            </a:r>
            <a:endParaRPr lang="en-US" sz="2300" dirty="0"/>
          </a:p>
        </p:txBody>
      </p:sp>
      <p:sp>
        <p:nvSpPr>
          <p:cNvPr id="7" name="Text 5"/>
          <p:cNvSpPr/>
          <p:nvPr/>
        </p:nvSpPr>
        <p:spPr>
          <a:xfrm>
            <a:off x="457189" y="2426791"/>
            <a:ext cx="1394385" cy="120888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Create an account with its opening balance.</a:t>
            </a:r>
            <a:endParaRPr lang="en-US" sz="1700" dirty="0"/>
          </a:p>
        </p:txBody>
      </p:sp>
      <p:sp>
        <p:nvSpPr>
          <p:cNvPr id="8" name="Text 6"/>
          <p:cNvSpPr/>
          <p:nvPr/>
        </p:nvSpPr>
        <p:spPr>
          <a:xfrm>
            <a:off x="2156366" y="1412180"/>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0A7C78"/>
                </a:solidFill>
                <a:latin typeface="Fira Sans SemiBold" pitchFamily="34" charset="0"/>
                <a:ea typeface="Fira Sans SemiBold" pitchFamily="34" charset="-122"/>
                <a:cs typeface="Fira Sans SemiBold" pitchFamily="34" charset="-120"/>
              </a:rPr>
              <a:t>02</a:t>
            </a:r>
            <a:endParaRPr lang="en-US" sz="1700" dirty="0"/>
          </a:p>
        </p:txBody>
      </p:sp>
      <p:sp>
        <p:nvSpPr>
          <p:cNvPr id="9" name="Shape 7"/>
          <p:cNvSpPr/>
          <p:nvPr/>
        </p:nvSpPr>
        <p:spPr>
          <a:xfrm>
            <a:off x="2156366" y="1714401"/>
            <a:ext cx="1394385" cy="19050"/>
          </a:xfrm>
          <a:prstGeom prst="rect">
            <a:avLst/>
          </a:prstGeom>
          <a:solidFill>
            <a:srgbClr val="0A7C78"/>
          </a:solidFill>
          <a:ln/>
        </p:spPr>
      </p:sp>
      <p:sp>
        <p:nvSpPr>
          <p:cNvPr id="10" name="Text 8"/>
          <p:cNvSpPr/>
          <p:nvPr/>
        </p:nvSpPr>
        <p:spPr>
          <a:xfrm>
            <a:off x="2156366" y="1862931"/>
            <a:ext cx="1394485"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Record</a:t>
            </a:r>
            <a:endParaRPr lang="en-US" sz="2300" dirty="0"/>
          </a:p>
        </p:txBody>
      </p:sp>
      <p:sp>
        <p:nvSpPr>
          <p:cNvPr id="11" name="Text 9"/>
          <p:cNvSpPr/>
          <p:nvPr/>
        </p:nvSpPr>
        <p:spPr>
          <a:xfrm>
            <a:off x="2156366" y="2426791"/>
            <a:ext cx="1394485"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Add deposits, withdrawals, and transfers.</a:t>
            </a:r>
            <a:endParaRPr lang="en-US" sz="1700" dirty="0"/>
          </a:p>
        </p:txBody>
      </p:sp>
      <p:sp>
        <p:nvSpPr>
          <p:cNvPr id="12" name="Text 10"/>
          <p:cNvSpPr/>
          <p:nvPr/>
        </p:nvSpPr>
        <p:spPr>
          <a:xfrm>
            <a:off x="3855643" y="1412180"/>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0A7C78"/>
                </a:solidFill>
                <a:latin typeface="Fira Sans SemiBold" pitchFamily="34" charset="0"/>
                <a:ea typeface="Fira Sans SemiBold" pitchFamily="34" charset="-122"/>
                <a:cs typeface="Fira Sans SemiBold" pitchFamily="34" charset="-120"/>
              </a:rPr>
              <a:t>03</a:t>
            </a:r>
            <a:endParaRPr lang="en-US" sz="1700" dirty="0"/>
          </a:p>
        </p:txBody>
      </p:sp>
      <p:sp>
        <p:nvSpPr>
          <p:cNvPr id="13" name="Shape 11"/>
          <p:cNvSpPr/>
          <p:nvPr/>
        </p:nvSpPr>
        <p:spPr>
          <a:xfrm>
            <a:off x="3855643" y="1714401"/>
            <a:ext cx="1394385" cy="19050"/>
          </a:xfrm>
          <a:prstGeom prst="rect">
            <a:avLst/>
          </a:prstGeom>
          <a:solidFill>
            <a:srgbClr val="0A7C78"/>
          </a:solidFill>
          <a:ln/>
        </p:spPr>
      </p:sp>
      <p:sp>
        <p:nvSpPr>
          <p:cNvPr id="14" name="Text 12"/>
          <p:cNvSpPr/>
          <p:nvPr/>
        </p:nvSpPr>
        <p:spPr>
          <a:xfrm>
            <a:off x="3855643" y="1862931"/>
            <a:ext cx="1394385"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Check</a:t>
            </a:r>
            <a:endParaRPr lang="en-US" sz="2300" dirty="0"/>
          </a:p>
        </p:txBody>
      </p:sp>
      <p:sp>
        <p:nvSpPr>
          <p:cNvPr id="15" name="Text 13"/>
          <p:cNvSpPr/>
          <p:nvPr/>
        </p:nvSpPr>
        <p:spPr>
          <a:xfrm>
            <a:off x="3855643" y="2426791"/>
            <a:ext cx="1394385" cy="151110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Print the current balance and show validation.</a:t>
            </a:r>
            <a:endParaRPr lang="en-US" sz="1700" dirty="0"/>
          </a:p>
        </p:txBody>
      </p:sp>
      <p:sp>
        <p:nvSpPr>
          <p:cNvPr id="16" name="Text 14"/>
          <p:cNvSpPr/>
          <p:nvPr/>
        </p:nvSpPr>
        <p:spPr>
          <a:xfrm>
            <a:off x="5554821" y="1412180"/>
            <a:ext cx="851474" cy="215900"/>
          </a:xfrm>
          <a:prstGeom prst="rect">
            <a:avLst/>
          </a:prstGeom>
          <a:noFill/>
          <a:ln/>
        </p:spPr>
        <p:txBody>
          <a:bodyPr wrap="none" lIns="0" tIns="0" rIns="0" bIns="0" rtlCol="0" anchor="t"/>
          <a:lstStyle/>
          <a:p>
            <a:pPr algn="l" indent="0" marL="0">
              <a:lnSpc>
                <a:spcPct val="83000"/>
              </a:lnSpc>
              <a:buNone/>
            </a:pPr>
            <a:r>
              <a:rPr lang="en-US" sz="1700" dirty="0">
                <a:solidFill>
                  <a:srgbClr val="0A7C78"/>
                </a:solidFill>
                <a:latin typeface="Fira Sans SemiBold" pitchFamily="34" charset="0"/>
                <a:ea typeface="Fira Sans SemiBold" pitchFamily="34" charset="-122"/>
                <a:cs typeface="Fira Sans SemiBold" pitchFamily="34" charset="-120"/>
              </a:rPr>
              <a:t>04</a:t>
            </a:r>
            <a:endParaRPr lang="en-US" sz="1700" dirty="0"/>
          </a:p>
        </p:txBody>
      </p:sp>
      <p:sp>
        <p:nvSpPr>
          <p:cNvPr id="17" name="Shape 15"/>
          <p:cNvSpPr/>
          <p:nvPr/>
        </p:nvSpPr>
        <p:spPr>
          <a:xfrm>
            <a:off x="5554821" y="1714401"/>
            <a:ext cx="1394385" cy="19050"/>
          </a:xfrm>
          <a:prstGeom prst="rect">
            <a:avLst/>
          </a:prstGeom>
          <a:solidFill>
            <a:srgbClr val="0A7C78"/>
          </a:solidFill>
          <a:ln/>
        </p:spPr>
      </p:sp>
      <p:sp>
        <p:nvSpPr>
          <p:cNvPr id="18" name="Text 16"/>
          <p:cNvSpPr/>
          <p:nvPr/>
        </p:nvSpPr>
        <p:spPr>
          <a:xfrm>
            <a:off x="5554821" y="1862931"/>
            <a:ext cx="1394485"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Report</a:t>
            </a:r>
            <a:endParaRPr lang="en-US" sz="2300" dirty="0"/>
          </a:p>
        </p:txBody>
      </p:sp>
      <p:sp>
        <p:nvSpPr>
          <p:cNvPr id="19" name="Text 17"/>
          <p:cNvSpPr/>
          <p:nvPr/>
        </p:nvSpPr>
        <p:spPr>
          <a:xfrm>
            <a:off x="5554821" y="2426791"/>
            <a:ext cx="1394485"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Generate a date-range statement.</a:t>
            </a:r>
            <a:endParaRPr lang="en-US" sz="1700" dirty="0"/>
          </a:p>
        </p:txBody>
      </p:sp>
      <p:sp>
        <p:nvSpPr>
          <p:cNvPr id="20" name="Text 18"/>
          <p:cNvSpPr/>
          <p:nvPr/>
        </p:nvSpPr>
        <p:spPr>
          <a:xfrm>
            <a:off x="457189" y="4087118"/>
            <a:ext cx="7101702" cy="206375"/>
          </a:xfrm>
          <a:prstGeom prst="rect">
            <a:avLst/>
          </a:prstGeom>
          <a:noFill/>
          <a:ln/>
        </p:spPr>
        <p:txBody>
          <a:bodyPr wrap="none" lIns="0" tIns="0" rIns="0" bIns="0" rtlCol="0" anchor="t"/>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Next step: add database persistence or file export without changing the ledger rules.</a:t>
            </a:r>
            <a:endParaRPr lang="en-US" sz="1250" dirty="0"/>
          </a:p>
        </p:txBody>
      </p:sp>
      <p:pic>
        <p:nvPicPr>
          <p:cNvPr id="21" name="Image 0" descr="preencoded.png">    </p:cNvPr>
          <p:cNvPicPr>
            <a:picLocks noChangeAspect="1"/>
          </p:cNvPicPr>
          <p:nvPr/>
        </p:nvPicPr>
        <p:blipFill>
          <a:blip r:embed="rId1"/>
          <a:stretch>
            <a:fillRect/>
          </a:stretch>
        </p:blipFill>
        <p:spPr>
          <a:xfrm>
            <a:off x="7406395" y="1364258"/>
            <a:ext cx="431789" cy="431800"/>
          </a:xfrm>
          <a:prstGeom prst="rect">
            <a:avLst/>
          </a:prstGeom>
        </p:spPr>
      </p:pic>
      <p:sp>
        <p:nvSpPr>
          <p:cNvPr id="22" name="Text 19"/>
          <p:cNvSpPr/>
          <p:nvPr/>
        </p:nvSpPr>
        <p:spPr>
          <a:xfrm>
            <a:off x="8054079" y="1412180"/>
            <a:ext cx="3680427"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Test the rules</a:t>
            </a:r>
            <a:endParaRPr lang="en-US" sz="2300" dirty="0"/>
          </a:p>
        </p:txBody>
      </p:sp>
      <p:sp>
        <p:nvSpPr>
          <p:cNvPr id="23" name="Text 20"/>
          <p:cNvSpPr/>
          <p:nvPr/>
        </p:nvSpPr>
        <p:spPr>
          <a:xfrm>
            <a:off x="8054079" y="1976041"/>
            <a:ext cx="3680427"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Deposits, withdrawals, insufficient funds, transfers, date filtering, and reconciliation.</a:t>
            </a:r>
            <a:endParaRPr lang="en-US" sz="1700" dirty="0"/>
          </a:p>
        </p:txBody>
      </p:sp>
      <p:pic>
        <p:nvPicPr>
          <p:cNvPr id="24" name="Image 1" descr="preencoded.png">    </p:cNvPr>
          <p:cNvPicPr>
            <a:picLocks noChangeAspect="1"/>
          </p:cNvPicPr>
          <p:nvPr/>
        </p:nvPicPr>
        <p:blipFill>
          <a:blip r:embed="rId2"/>
          <a:stretch>
            <a:fillRect/>
          </a:stretch>
        </p:blipFill>
        <p:spPr>
          <a:xfrm>
            <a:off x="7406395" y="4087118"/>
            <a:ext cx="431789" cy="431800"/>
          </a:xfrm>
          <a:prstGeom prst="rect">
            <a:avLst/>
          </a:prstGeom>
        </p:spPr>
      </p:pic>
      <p:sp>
        <p:nvSpPr>
          <p:cNvPr id="25" name="Text 21"/>
          <p:cNvSpPr/>
          <p:nvPr/>
        </p:nvSpPr>
        <p:spPr>
          <a:xfrm>
            <a:off x="8054079" y="4135041"/>
            <a:ext cx="3680427"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State the takeaway</a:t>
            </a:r>
            <a:endParaRPr lang="en-US" sz="2300" dirty="0"/>
          </a:p>
        </p:txBody>
      </p:sp>
      <p:sp>
        <p:nvSpPr>
          <p:cNvPr id="26" name="Text 22"/>
          <p:cNvSpPr/>
          <p:nvPr/>
        </p:nvSpPr>
        <p:spPr>
          <a:xfrm>
            <a:off x="8054079" y="4698901"/>
            <a:ext cx="3680427"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F2937"/>
                </a:solidFill>
                <a:latin typeface="Fira Sans" pitchFamily="34" charset="0"/>
                <a:ea typeface="Fira Sans" pitchFamily="34" charset="-122"/>
                <a:cs typeface="Fira Sans" pitchFamily="34" charset="-120"/>
              </a:rPr>
              <a:t>Mutable recording and read-only reporting each have one clear responsibility.</a:t>
            </a:r>
            <a:endParaRPr lang="en-US" sz="1700" dirty="0"/>
          </a:p>
        </p:txBody>
      </p:sp>
      <p:sp>
        <p:nvSpPr>
          <p:cNvPr id="27" name="Shape 23"/>
          <p:cNvSpPr/>
          <p:nvPr/>
        </p:nvSpPr>
        <p:spPr>
          <a:xfrm>
            <a:off x="7406395" y="3900091"/>
            <a:ext cx="4328111" cy="12700"/>
          </a:xfrm>
          <a:prstGeom prst="rect">
            <a:avLst/>
          </a:prstGeom>
          <a:solidFill>
            <a:srgbClr val="CBD3DE"/>
          </a:solidFill>
          <a:ln/>
        </p:spPr>
      </p:sp>
      <p:sp>
        <p:nvSpPr>
          <p:cNvPr id="28" name="Text 24"/>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algn="l" indent="0" marL="0">
              <a:lnSpc>
                <a:spcPct val="100000"/>
              </a:lnSpc>
              <a:buNone/>
            </a:pPr>
            <a:r>
              <a:rPr lang="en-US" sz="1250" spc="25" kern="0" dirty="0">
                <a:solidFill>
                  <a:srgbClr val="B94A0A"/>
                </a:solidFill>
                <a:latin typeface="Fira Mono Medium" pitchFamily="34" charset="0"/>
                <a:ea typeface="Fira Mono Medium" pitchFamily="34" charset="-122"/>
                <a:cs typeface="Fira Mono Medium" pitchFamily="34" charset="-120"/>
              </a:rPr>
              <a:t>JAVA IMPLEMENTATION · 01</a:t>
            </a:r>
            <a:endParaRPr lang="en-US" sz="1250" dirty="0"/>
          </a:p>
        </p:txBody>
      </p:sp>
      <p:sp>
        <p:nvSpPr>
          <p:cNvPr id="3" name="Text 1"/>
          <p:cNvSpPr/>
          <p:nvPr/>
        </p:nvSpPr>
        <p:spPr>
          <a:xfrm>
            <a:off x="457189" y="749300"/>
            <a:ext cx="11277318" cy="408880"/>
          </a:xfrm>
          <a:prstGeom prst="rect">
            <a:avLst/>
          </a:prstGeom>
          <a:noFill/>
          <a:ln/>
        </p:spPr>
        <p:txBody>
          <a:bodyPr wrap="none" lIns="0" tIns="0" rIns="0" bIns="0" rtlCol="0" anchor="t"/>
          <a:lstStyle/>
          <a:p>
            <a:pPr algn="l" indent="0" marL="0">
              <a:lnSpc>
                <a:spcPct val="96000"/>
              </a:lnSpc>
              <a:buNone/>
            </a:pPr>
            <a:r>
              <a:rPr lang="en-US" sz="2800" spc="-28" kern="0" dirty="0">
                <a:solidFill>
                  <a:srgbClr val="1F2937"/>
                </a:solidFill>
                <a:latin typeface="Fira Sans SemiBold" pitchFamily="34" charset="0"/>
                <a:ea typeface="Fira Sans SemiBold" pitchFamily="34" charset="-122"/>
                <a:cs typeface="Fira Sans SemiBold" pitchFamily="34" charset="-120"/>
              </a:rPr>
              <a:t>Keep the bank domain small and explicit</a:t>
            </a:r>
            <a:endParaRPr lang="en-US" sz="2800" dirty="0"/>
          </a:p>
        </p:txBody>
      </p:sp>
      <p:sp>
        <p:nvSpPr>
          <p:cNvPr id="4" name="Text 2"/>
          <p:cNvSpPr/>
          <p:nvPr/>
        </p:nvSpPr>
        <p:spPr>
          <a:xfrm>
            <a:off x="457189" y="1412180"/>
            <a:ext cx="6131367"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Core types</a:t>
            </a:r>
            <a:endParaRPr lang="en-US" sz="2300" dirty="0"/>
          </a:p>
        </p:txBody>
      </p:sp>
      <p:sp>
        <p:nvSpPr>
          <p:cNvPr id="5" name="Shape 3"/>
          <p:cNvSpPr/>
          <p:nvPr/>
        </p:nvSpPr>
        <p:spPr>
          <a:xfrm>
            <a:off x="457189" y="2034778"/>
            <a:ext cx="6131367" cy="2849463"/>
          </a:xfrm>
          <a:prstGeom prst="roundRect">
            <a:avLst>
              <a:gd name="adj" fmla="val 401"/>
            </a:avLst>
          </a:prstGeom>
          <a:solidFill>
            <a:srgbClr val="F3F5F8"/>
          </a:solidFill>
          <a:ln/>
        </p:spPr>
      </p:sp>
      <p:sp>
        <p:nvSpPr>
          <p:cNvPr id="6" name="Text 4"/>
          <p:cNvSpPr/>
          <p:nvPr/>
        </p:nvSpPr>
        <p:spPr>
          <a:xfrm>
            <a:off x="716242" y="2250678"/>
            <a:ext cx="5613260" cy="2417663"/>
          </a:xfrm>
          <a:prstGeom prst="rect">
            <a:avLst/>
          </a:prstGeom>
          <a:noFill/>
          <a:ln/>
        </p:spPr>
        <p:txBody>
          <a:bodyPr wrap="square" lIns="0" tIns="0" rIns="0" bIns="0" rtlCol="0" anchor="t">
            <a:normAutofit/>
          </a:bodyPr>
          <a:lstStyle/>
          <a:p>
            <a:pPr algn="l" indent="0" marL="0">
              <a:lnSpc>
                <a:spcPct val="133000"/>
              </a:lnSpc>
              <a:buNone/>
            </a:pPr>
            <a:r>
              <a:rPr lang="en-US" sz="1700" dirty="0">
                <a:solidFill>
                  <a:srgbClr val="D73A49"/>
                </a:solidFill>
                <a:latin typeface="Consolas" pitchFamily="34" charset="0"/>
                <a:ea typeface="Consolas" pitchFamily="34" charset="-122"/>
                <a:cs typeface="Consolas" pitchFamily="34" charset="-120"/>
              </a:rPr>
              <a:t>record Money(BigDecimal amount) {}</a:t>
            </a:r>
            <a:endParaRPr lang="en-US" sz="1700" dirty="0"/>
          </a:p>
          <a:p>
            <a:pPr algn="l" indent="0" marL="0">
              <a:lnSpc>
                <a:spcPct val="133000"/>
              </a:lnSpc>
              <a:buNone/>
            </a:pPr>
            <a:r>
              <a:rPr lang="en-US" sz="1700" dirty="0">
                <a:solidFill>
                  <a:srgbClr val="D73A49"/>
                </a:solidFill>
                <a:latin typeface="Consolas" pitchFamily="34" charset="0"/>
                <a:ea typeface="Consolas" pitchFamily="34" charset="-122"/>
                <a:cs typeface="Consolas" pitchFamily="34" charset="-120"/>
              </a:rPr>
              <a:t>record Account(String id, Money balance) {}</a:t>
            </a:r>
            <a:endParaRPr lang="en-US" sz="1700" dirty="0"/>
          </a:p>
          <a:p>
            <a:pPr algn="l" indent="0" marL="0">
              <a:lnSpc>
                <a:spcPct val="133000"/>
              </a:lnSpc>
              <a:buNone/>
            </a:pPr>
            <a:r>
              <a:rPr lang="en-US" sz="1700" dirty="0">
                <a:solidFill>
                  <a:srgbClr val="D73A49"/>
                </a:solidFill>
                <a:latin typeface="Consolas" pitchFamily="34" charset="0"/>
                <a:ea typeface="Consolas" pitchFamily="34" charset="-122"/>
                <a:cs typeface="Consolas" pitchFamily="34" charset="-120"/>
              </a:rPr>
              <a:t>record Transaction(LocalDate date,</a:t>
            </a:r>
            <a:endParaRPr lang="en-US" sz="1700" dirty="0"/>
          </a:p>
          <a:p>
            <a:pPr algn="l" indent="0" marL="0">
              <a:lnSpc>
                <a:spcPct val="133000"/>
              </a:lnSpc>
              <a:buNone/>
            </a:pPr>
            <a:r>
              <a:rPr lang="en-US" sz="1700" dirty="0">
                <a:solidFill>
                  <a:srgbClr val="D73A49"/>
                </a:solidFill>
                <a:latin typeface="Consolas" pitchFamily="34" charset="0"/>
                <a:ea typeface="Consolas" pitchFamily="34" charset="-122"/>
                <a:cs typeface="Consolas" pitchFamily="34" charset="-120"/>
              </a:rPr>
              <a:t>                   String from,</a:t>
            </a:r>
            <a:endParaRPr lang="en-US" sz="1700" dirty="0"/>
          </a:p>
          <a:p>
            <a:pPr algn="l" indent="0" marL="0">
              <a:lnSpc>
                <a:spcPct val="133000"/>
              </a:lnSpc>
              <a:buNone/>
            </a:pPr>
            <a:r>
              <a:rPr lang="en-US" sz="1700" dirty="0">
                <a:solidFill>
                  <a:srgbClr val="D73A49"/>
                </a:solidFill>
                <a:latin typeface="Consolas" pitchFamily="34" charset="0"/>
                <a:ea typeface="Consolas" pitchFamily="34" charset="-122"/>
                <a:cs typeface="Consolas" pitchFamily="34" charset="-120"/>
              </a:rPr>
              <a:t>                   String to,</a:t>
            </a:r>
            <a:endParaRPr lang="en-US" sz="1700" dirty="0"/>
          </a:p>
          <a:p>
            <a:pPr algn="l" indent="0" marL="0">
              <a:lnSpc>
                <a:spcPct val="133000"/>
              </a:lnSpc>
              <a:buNone/>
            </a:pPr>
            <a:r>
              <a:rPr lang="en-US" sz="1700" dirty="0">
                <a:solidFill>
                  <a:srgbClr val="D73A49"/>
                </a:solidFill>
                <a:latin typeface="Consolas" pitchFamily="34" charset="0"/>
                <a:ea typeface="Consolas" pitchFamily="34" charset="-122"/>
                <a:cs typeface="Consolas" pitchFamily="34" charset="-120"/>
              </a:rPr>
              <a:t>                   Money amount,</a:t>
            </a:r>
            <a:endParaRPr lang="en-US" sz="1700" dirty="0"/>
          </a:p>
          <a:p>
            <a:pPr algn="l" indent="0" marL="0">
              <a:lnSpc>
                <a:spcPct val="133000"/>
              </a:lnSpc>
              <a:buNone/>
            </a:pPr>
            <a:r>
              <a:rPr lang="en-US" sz="1700" dirty="0">
                <a:solidFill>
                  <a:srgbClr val="D73A49"/>
                </a:solidFill>
                <a:latin typeface="Consolas" pitchFamily="34" charset="0"/>
                <a:ea typeface="Consolas" pitchFamily="34" charset="-122"/>
                <a:cs typeface="Consolas" pitchFamily="34" charset="-120"/>
              </a:rPr>
              <a:t>                   String memo) {}</a:t>
            </a:r>
            <a:endParaRPr lang="en-US" sz="1700" dirty="0"/>
          </a:p>
        </p:txBody>
      </p:sp>
      <p:sp>
        <p:nvSpPr>
          <p:cNvPr id="7" name="Text 5"/>
          <p:cNvSpPr/>
          <p:nvPr/>
        </p:nvSpPr>
        <p:spPr>
          <a:xfrm>
            <a:off x="7045645" y="1412180"/>
            <a:ext cx="4688862"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One responsibility each</a:t>
            </a:r>
            <a:endParaRPr lang="en-US" sz="2300" dirty="0"/>
          </a:p>
        </p:txBody>
      </p:sp>
      <p:sp>
        <p:nvSpPr>
          <p:cNvPr id="8" name="Text 6"/>
          <p:cNvSpPr/>
          <p:nvPr/>
        </p:nvSpPr>
        <p:spPr>
          <a:xfrm>
            <a:off x="7045645" y="1976041"/>
            <a:ext cx="4688862" cy="2003822"/>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b="1" dirty="0">
                <a:solidFill>
                  <a:srgbClr val="1F2937"/>
                </a:solidFill>
                <a:latin typeface="Fira Sans Bold" pitchFamily="34" charset="0"/>
                <a:ea typeface="Fira Sans Bold" pitchFamily="34" charset="-122"/>
                <a:cs typeface="Fira Sans Bold" pitchFamily="34" charset="-120"/>
              </a:rPr>
              <a:t>Account</a:t>
            </a:r>
            <a:pPr algn="l" marL="345440" indent="-345440">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 owns identity and current balance.</a:t>
            </a:r>
            <a:endParaRPr lang="en-US" sz="1700" dirty="0"/>
          </a:p>
          <a:p>
            <a:pPr algn="l" marL="345440" indent="-345440">
              <a:lnSpc>
                <a:spcPct val="117000"/>
              </a:lnSpc>
              <a:buSzPct val="100000"/>
              <a:buChar char="•"/>
            </a:pPr>
            <a:r>
              <a:rPr lang="en-US" sz="1700" b="1" dirty="0">
                <a:solidFill>
                  <a:srgbClr val="1F2937"/>
                </a:solidFill>
                <a:latin typeface="Fira Sans Bold" pitchFamily="34" charset="0"/>
                <a:ea typeface="Fira Sans Bold" pitchFamily="34" charset="-122"/>
                <a:cs typeface="Fira Sans Bold" pitchFamily="34" charset="-120"/>
              </a:rPr>
              <a:t>Transaction</a:t>
            </a:r>
            <a:pPr algn="l" marL="345440" indent="-345440">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 is an immutable business event.</a:t>
            </a:r>
            <a:endParaRPr lang="en-US" sz="1700" dirty="0"/>
          </a:p>
          <a:p>
            <a:pPr algn="l" marL="345440" indent="-345440">
              <a:lnSpc>
                <a:spcPct val="117000"/>
              </a:lnSpc>
              <a:buSzPct val="100000"/>
              <a:buChar char="•"/>
            </a:pPr>
            <a:r>
              <a:rPr lang="en-US" sz="1700" b="1" dirty="0">
                <a:solidFill>
                  <a:srgbClr val="1F2937"/>
                </a:solidFill>
                <a:latin typeface="Fira Sans Bold" pitchFamily="34" charset="0"/>
                <a:ea typeface="Fira Sans Bold" pitchFamily="34" charset="-122"/>
                <a:cs typeface="Fira Sans Bold" pitchFamily="34" charset="-120"/>
              </a:rPr>
              <a:t>Money</a:t>
            </a:r>
            <a:pPr algn="l" marL="345440" indent="-345440">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 centralizes precision and currency rules.</a:t>
            </a:r>
            <a:endParaRPr lang="en-US" sz="1700" dirty="0"/>
          </a:p>
          <a:p>
            <a:pPr algn="l" marL="345440" indent="-345440">
              <a:lnSpc>
                <a:spcPct val="117000"/>
              </a:lnSpc>
              <a:buSzPct val="100000"/>
              <a:buChar char="•"/>
            </a:pPr>
            <a:r>
              <a:rPr lang="en-US" sz="1700" b="1" dirty="0">
                <a:solidFill>
                  <a:srgbClr val="1F2937"/>
                </a:solidFill>
                <a:latin typeface="Fira Sans Bold" pitchFamily="34" charset="0"/>
                <a:ea typeface="Fira Sans Bold" pitchFamily="34" charset="-122"/>
                <a:cs typeface="Fira Sans Bold" pitchFamily="34" charset="-120"/>
              </a:rPr>
              <a:t>Ledger</a:t>
            </a:r>
            <a:pPr algn="l" marL="345440" indent="-345440">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 is the only writer of state.</a:t>
            </a:r>
            <a:endParaRPr lang="en-US" sz="1700" dirty="0"/>
          </a:p>
        </p:txBody>
      </p:sp>
      <p:sp>
        <p:nvSpPr>
          <p:cNvPr id="9" name="Text 7"/>
          <p:cNvSpPr/>
          <p:nvPr/>
        </p:nvSpPr>
        <p:spPr>
          <a:xfrm>
            <a:off x="7045645" y="4129088"/>
            <a:ext cx="4688862" cy="412750"/>
          </a:xfrm>
          <a:prstGeom prst="rect">
            <a:avLst/>
          </a:prstGeom>
          <a:noFill/>
          <a:ln/>
        </p:spPr>
        <p:txBody>
          <a:bodyPr wrap="square" lIns="0" tIns="0" rIns="0" bIns="0" rtlCol="0" anchor="t">
            <a:normAutofit/>
          </a:bodyPr>
          <a:lstStyle/>
          <a:p>
            <a:pPr algn="l" indent="0" marL="0">
              <a:lnSpc>
                <a:spcPct val="108000"/>
              </a:lnSpc>
              <a:buNone/>
            </a:pPr>
            <a:r>
              <a:rPr lang="en-US" sz="1250" dirty="0">
                <a:solidFill>
                  <a:srgbClr val="5B6577"/>
                </a:solidFill>
                <a:latin typeface="Fira Sans" pitchFamily="34" charset="0"/>
                <a:ea typeface="Fira Sans" pitchFamily="34" charset="-122"/>
                <a:cs typeface="Fira Sans" pitchFamily="34" charset="-120"/>
              </a:rPr>
              <a:t>Make invalid states harder to create: use BigDecimal for money and LocalDate for statement boundaries.</a:t>
            </a:r>
            <a:endParaRPr lang="en-US" sz="1250" dirty="0"/>
          </a:p>
        </p:txBody>
      </p:sp>
      <p:sp>
        <p:nvSpPr>
          <p:cNvPr id="10" name="Text 8"/>
          <p:cNvSpPr/>
          <p:nvPr/>
        </p:nvSpPr>
        <p:spPr>
          <a:xfrm>
            <a:off x="11656225" y="6531570"/>
            <a:ext cx="535470"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189" y="457200"/>
            <a:ext cx="11734506" cy="158055"/>
          </a:xfrm>
          <a:prstGeom prst="rect">
            <a:avLst/>
          </a:prstGeom>
          <a:noFill/>
          <a:ln/>
        </p:spPr>
        <p:txBody>
          <a:bodyPr wrap="none" lIns="0" tIns="0" rIns="0" bIns="0" rtlCol="0" anchor="t"/>
          <a:lstStyle/>
          <a:p>
            <a:pPr algn="l" indent="0" marL="0">
              <a:lnSpc>
                <a:spcPct val="100000"/>
              </a:lnSpc>
              <a:buNone/>
            </a:pPr>
            <a:r>
              <a:rPr lang="en-US" sz="1050" spc="21" kern="0" dirty="0">
                <a:solidFill>
                  <a:srgbClr val="B94A0A"/>
                </a:solidFill>
                <a:latin typeface="Fira Mono Medium" pitchFamily="34" charset="0"/>
                <a:ea typeface="Fira Mono Medium" pitchFamily="34" charset="-122"/>
                <a:cs typeface="Fira Mono Medium" pitchFamily="34" charset="-120"/>
              </a:rPr>
              <a:t>JAVA IMPLEMENTATION · 02</a:t>
            </a:r>
            <a:endParaRPr lang="en-US" sz="1050" dirty="0"/>
          </a:p>
        </p:txBody>
      </p:sp>
      <p:sp>
        <p:nvSpPr>
          <p:cNvPr id="3" name="Text 1"/>
          <p:cNvSpPr/>
          <p:nvPr/>
        </p:nvSpPr>
        <p:spPr>
          <a:xfrm>
            <a:off x="457189" y="685205"/>
            <a:ext cx="11277318" cy="339427"/>
          </a:xfrm>
          <a:prstGeom prst="rect">
            <a:avLst/>
          </a:prstGeom>
          <a:noFill/>
          <a:ln/>
        </p:spPr>
        <p:txBody>
          <a:bodyPr wrap="none" lIns="0" tIns="0" rIns="0" bIns="0" rtlCol="0" anchor="t"/>
          <a:lstStyle/>
          <a:p>
            <a:pPr algn="l" indent="0" marL="0">
              <a:lnSpc>
                <a:spcPct val="96000"/>
              </a:lnSpc>
              <a:buNone/>
            </a:pPr>
            <a:r>
              <a:rPr lang="en-US" sz="2300" spc="-23" kern="0" dirty="0">
                <a:solidFill>
                  <a:srgbClr val="1F2937"/>
                </a:solidFill>
                <a:latin typeface="Fira Sans SemiBold" pitchFamily="34" charset="0"/>
                <a:ea typeface="Fira Sans SemiBold" pitchFamily="34" charset="-122"/>
                <a:cs typeface="Fira Sans SemiBold" pitchFamily="34" charset="-120"/>
              </a:rPr>
              <a:t>Ledger operations make rules executable</a:t>
            </a:r>
            <a:endParaRPr lang="en-US" sz="2300" dirty="0"/>
          </a:p>
        </p:txBody>
      </p:sp>
      <p:sp>
        <p:nvSpPr>
          <p:cNvPr id="4" name="Text 2"/>
          <p:cNvSpPr/>
          <p:nvPr/>
        </p:nvSpPr>
        <p:spPr>
          <a:xfrm>
            <a:off x="457189" y="1199654"/>
            <a:ext cx="6492117" cy="315218"/>
          </a:xfrm>
          <a:prstGeom prst="rect">
            <a:avLst/>
          </a:prstGeom>
          <a:noFill/>
          <a:ln/>
        </p:spPr>
        <p:txBody>
          <a:bodyPr wrap="none" lIns="0" tIns="0" rIns="0" bIns="0" rtlCol="0" anchor="t"/>
          <a:lstStyle/>
          <a:p>
            <a:pPr algn="l" indent="0" marL="0">
              <a:lnSpc>
                <a:spcPct val="108000"/>
              </a:lnSpc>
              <a:buNone/>
            </a:pPr>
            <a:r>
              <a:rPr lang="en-US" sz="1900" dirty="0">
                <a:solidFill>
                  <a:srgbClr val="1F2937"/>
                </a:solidFill>
                <a:latin typeface="Fira Sans" pitchFamily="34" charset="0"/>
                <a:ea typeface="Fira Sans" pitchFamily="34" charset="-122"/>
                <a:cs typeface="Fira Sans" pitchFamily="34" charset="-120"/>
              </a:rPr>
              <a:t>Write through one API</a:t>
            </a:r>
            <a:endParaRPr lang="en-US" sz="1900" dirty="0"/>
          </a:p>
        </p:txBody>
      </p:sp>
      <p:sp>
        <p:nvSpPr>
          <p:cNvPr id="5" name="Shape 3"/>
          <p:cNvSpPr/>
          <p:nvPr/>
        </p:nvSpPr>
        <p:spPr>
          <a:xfrm>
            <a:off x="457189" y="1716484"/>
            <a:ext cx="6492117" cy="4947841"/>
          </a:xfrm>
          <a:prstGeom prst="roundRect">
            <a:avLst>
              <a:gd name="adj" fmla="val 231"/>
            </a:avLst>
          </a:prstGeom>
          <a:solidFill>
            <a:srgbClr val="F3F5F8"/>
          </a:solidFill>
          <a:ln/>
        </p:spPr>
      </p:sp>
      <p:sp>
        <p:nvSpPr>
          <p:cNvPr id="6" name="Text 4"/>
          <p:cNvSpPr/>
          <p:nvPr/>
        </p:nvSpPr>
        <p:spPr>
          <a:xfrm>
            <a:off x="672190" y="1895673"/>
            <a:ext cx="6062114" cy="4589463"/>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final class Ledger {</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private final Map&lt;String, Account&gt; accounts = new HashMap&lt;&gt;();</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private final List&lt;Transaction&gt; entries = new ArrayList&lt;&gt;();</a:t>
            </a:r>
            <a:endParaRPr lang="en-US" sz="1400" dirty="0"/>
          </a:p>
          <a:p>
            <a:pPr algn="l" indent="0" marL="0">
              <a:lnSpc>
                <a:spcPct val="133000"/>
              </a:lnSpc>
              <a:buNone/>
            </a:pP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void deposit(String id, Money amount) {</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requirePositive(amount);</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account(id).credit(amount);</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entries.add(Transaction.deposit(today(), id, amount));</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a:t>
            </a:r>
            <a:endParaRPr lang="en-US" sz="1400" dirty="0"/>
          </a:p>
          <a:p>
            <a:pPr algn="l" indent="0" marL="0">
              <a:lnSpc>
                <a:spcPct val="133000"/>
              </a:lnSpc>
              <a:buNone/>
            </a:pP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void withdraw(String id, Money amount) {</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requirePositive(amount);</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account(id).debitOrThrow(amount);</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entries.add(Transaction.withdrawal(today(), id, amount));</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  }</a:t>
            </a:r>
            <a:endParaRPr lang="en-US" sz="1400" dirty="0"/>
          </a:p>
          <a:p>
            <a:pPr algn="l" indent="0" marL="0">
              <a:lnSpc>
                <a:spcPct val="133000"/>
              </a:lnSpc>
              <a:buNone/>
            </a:pPr>
            <a:r>
              <a:rPr lang="en-US" sz="1400" dirty="0">
                <a:solidFill>
                  <a:srgbClr val="D73A49"/>
                </a:solidFill>
                <a:latin typeface="Consolas" pitchFamily="34" charset="0"/>
                <a:ea typeface="Consolas" pitchFamily="34" charset="-122"/>
                <a:cs typeface="Consolas" pitchFamily="34" charset="-120"/>
              </a:rPr>
              <a:t>}</a:t>
            </a:r>
            <a:endParaRPr lang="en-US" sz="1400" dirty="0"/>
          </a:p>
        </p:txBody>
      </p:sp>
      <p:sp>
        <p:nvSpPr>
          <p:cNvPr id="7" name="Text 5"/>
          <p:cNvSpPr/>
          <p:nvPr/>
        </p:nvSpPr>
        <p:spPr>
          <a:xfrm>
            <a:off x="7406395" y="1199654"/>
            <a:ext cx="4328111" cy="315218"/>
          </a:xfrm>
          <a:prstGeom prst="rect">
            <a:avLst/>
          </a:prstGeom>
          <a:noFill/>
          <a:ln/>
        </p:spPr>
        <p:txBody>
          <a:bodyPr wrap="none" lIns="0" tIns="0" rIns="0" bIns="0" rtlCol="0" anchor="t"/>
          <a:lstStyle/>
          <a:p>
            <a:pPr algn="l" indent="0" marL="0">
              <a:lnSpc>
                <a:spcPct val="108000"/>
              </a:lnSpc>
              <a:buNone/>
            </a:pPr>
            <a:r>
              <a:rPr lang="en-US" sz="1900" dirty="0">
                <a:solidFill>
                  <a:srgbClr val="1F2937"/>
                </a:solidFill>
                <a:latin typeface="Fira Sans" pitchFamily="34" charset="0"/>
                <a:ea typeface="Fira Sans" pitchFamily="34" charset="-122"/>
                <a:cs typeface="Fira Sans" pitchFamily="34" charset="-120"/>
              </a:rPr>
              <a:t>Guardrails</a:t>
            </a:r>
            <a:endParaRPr lang="en-US" sz="1900" dirty="0"/>
          </a:p>
        </p:txBody>
      </p:sp>
      <p:sp>
        <p:nvSpPr>
          <p:cNvPr id="8" name="Text 6"/>
          <p:cNvSpPr/>
          <p:nvPr/>
        </p:nvSpPr>
        <p:spPr>
          <a:xfrm>
            <a:off x="7406395" y="1641773"/>
            <a:ext cx="4328111" cy="1050032"/>
          </a:xfrm>
          <a:prstGeom prst="rect">
            <a:avLst/>
          </a:prstGeom>
          <a:noFill/>
          <a:ln/>
        </p:spPr>
        <p:txBody>
          <a:bodyPr wrap="square" lIns="0" tIns="0" rIns="0" bIns="0" rtlCol="0" anchor="t">
            <a:normAutofit/>
          </a:bodyPr>
          <a:lstStyle/>
          <a:p>
            <a:pPr algn="l" marL="284480" indent="-284480">
              <a:lnSpc>
                <a:spcPct val="107000"/>
              </a:lnSpc>
              <a:buSzPct val="100000"/>
              <a:buChar char="•"/>
            </a:pPr>
            <a:r>
              <a:rPr lang="en-US" sz="1400" dirty="0">
                <a:solidFill>
                  <a:srgbClr val="1F2937"/>
                </a:solidFill>
                <a:latin typeface="Fira Sans" pitchFamily="34" charset="0"/>
                <a:ea typeface="Fira Sans" pitchFamily="34" charset="-122"/>
                <a:cs typeface="Fira Sans" pitchFamily="34" charset="-120"/>
              </a:rPr>
              <a:t>Reject zero and negative amounts.</a:t>
            </a:r>
            <a:endParaRPr lang="en-US" sz="1400" dirty="0"/>
          </a:p>
          <a:p>
            <a:pPr algn="l" marL="284480" indent="-284480">
              <a:lnSpc>
                <a:spcPct val="107000"/>
              </a:lnSpc>
              <a:buSzPct val="100000"/>
              <a:buChar char="•"/>
            </a:pPr>
            <a:r>
              <a:rPr lang="en-US" sz="1400" dirty="0">
                <a:solidFill>
                  <a:srgbClr val="1F2937"/>
                </a:solidFill>
                <a:latin typeface="Fira Sans" pitchFamily="34" charset="0"/>
                <a:ea typeface="Fira Sans" pitchFamily="34" charset="-122"/>
                <a:cs typeface="Fira Sans" pitchFamily="34" charset="-120"/>
              </a:rPr>
              <a:t>Reject withdrawals beyond the balance.</a:t>
            </a:r>
            <a:endParaRPr lang="en-US" sz="1400" dirty="0"/>
          </a:p>
          <a:p>
            <a:pPr algn="l" marL="284480" indent="-284480">
              <a:lnSpc>
                <a:spcPct val="107000"/>
              </a:lnSpc>
              <a:buSzPct val="100000"/>
              <a:buChar char="•"/>
            </a:pPr>
            <a:r>
              <a:rPr lang="en-US" sz="1400" dirty="0">
                <a:solidFill>
                  <a:srgbClr val="1F2937"/>
                </a:solidFill>
                <a:latin typeface="Fira Sans" pitchFamily="34" charset="0"/>
                <a:ea typeface="Fira Sans" pitchFamily="34" charset="-122"/>
                <a:cs typeface="Fira Sans" pitchFamily="34" charset="-120"/>
              </a:rPr>
              <a:t>Record the entry only after validation passes.</a:t>
            </a:r>
            <a:endParaRPr lang="en-US" sz="1400" dirty="0"/>
          </a:p>
          <a:p>
            <a:pPr algn="l" marL="284480" indent="-284480">
              <a:lnSpc>
                <a:spcPct val="107000"/>
              </a:lnSpc>
              <a:buSzPct val="100000"/>
              <a:buChar char="•"/>
            </a:pPr>
            <a:r>
              <a:rPr lang="en-US" sz="1400" dirty="0">
                <a:solidFill>
                  <a:srgbClr val="1F2937"/>
                </a:solidFill>
                <a:latin typeface="Fira Sans" pitchFamily="34" charset="0"/>
                <a:ea typeface="Fira Sans" pitchFamily="34" charset="-122"/>
                <a:cs typeface="Fira Sans" pitchFamily="34" charset="-120"/>
              </a:rPr>
              <a:t>Keep transfers atomic: debit and credit together.</a:t>
            </a:r>
            <a:endParaRPr lang="en-US" sz="1400" dirty="0"/>
          </a:p>
        </p:txBody>
      </p:sp>
      <p:sp>
        <p:nvSpPr>
          <p:cNvPr id="9" name="Shape 7"/>
          <p:cNvSpPr/>
          <p:nvPr/>
        </p:nvSpPr>
        <p:spPr>
          <a:xfrm>
            <a:off x="7406395" y="2794595"/>
            <a:ext cx="4328111" cy="1136948"/>
          </a:xfrm>
          <a:prstGeom prst="roundRect">
            <a:avLst>
              <a:gd name="adj" fmla="val 1005"/>
            </a:avLst>
          </a:prstGeom>
          <a:solidFill>
            <a:srgbClr val="B6FCB8"/>
          </a:solidFill>
          <a:ln/>
        </p:spPr>
      </p:sp>
      <p:pic>
        <p:nvPicPr>
          <p:cNvPr id="10" name="Image 0" descr="preencoded.png">    </p:cNvPr>
          <p:cNvPicPr>
            <a:picLocks noChangeAspect="1"/>
          </p:cNvPicPr>
          <p:nvPr/>
        </p:nvPicPr>
        <p:blipFill>
          <a:blip r:embed="rId1"/>
          <a:stretch>
            <a:fillRect/>
          </a:stretch>
        </p:blipFill>
        <p:spPr>
          <a:xfrm>
            <a:off x="7585580" y="3033117"/>
            <a:ext cx="224030" cy="179189"/>
          </a:xfrm>
          <a:prstGeom prst="rect">
            <a:avLst/>
          </a:prstGeom>
        </p:spPr>
      </p:pic>
      <p:sp>
        <p:nvSpPr>
          <p:cNvPr id="11" name="Text 8"/>
          <p:cNvSpPr/>
          <p:nvPr/>
        </p:nvSpPr>
        <p:spPr>
          <a:xfrm>
            <a:off x="7988795" y="3018532"/>
            <a:ext cx="3566527" cy="689074"/>
          </a:xfrm>
          <a:prstGeom prst="rect">
            <a:avLst/>
          </a:prstGeom>
          <a:noFill/>
          <a:ln/>
        </p:spPr>
        <p:txBody>
          <a:bodyPr wrap="square" lIns="0" tIns="0" rIns="0" bIns="0" rtlCol="0" anchor="t">
            <a:normAutofit/>
          </a:bodyPr>
          <a:lstStyle/>
          <a:p>
            <a:pPr algn="l" indent="0" marL="0">
              <a:lnSpc>
                <a:spcPct val="107000"/>
              </a:lnSpc>
              <a:buNone/>
            </a:pPr>
            <a:r>
              <a:rPr lang="en-US" sz="1400" dirty="0">
                <a:solidFill>
                  <a:srgbClr val="000000"/>
                </a:solidFill>
                <a:latin typeface="Fira Sans" pitchFamily="34" charset="0"/>
                <a:ea typeface="Fira Sans" pitchFamily="34" charset="-122"/>
                <a:cs typeface="Fira Sans" pitchFamily="34" charset="-120"/>
              </a:rPr>
              <a:t>If every state change passes through </a:t>
            </a:r>
            <a:pPr algn="l" indent="0" marL="0">
              <a:lnSpc>
                <a:spcPct val="107000"/>
              </a:lnSpc>
              <a:buNone/>
            </a:pPr>
            <a:r>
              <a:rPr lang="en-US" sz="1400" b="1" dirty="0">
                <a:solidFill>
                  <a:srgbClr val="000000"/>
                </a:solidFill>
                <a:latin typeface="Fira Sans Bold" pitchFamily="34" charset="0"/>
                <a:ea typeface="Fira Sans Bold" pitchFamily="34" charset="-122"/>
                <a:cs typeface="Fira Sans Bold" pitchFamily="34" charset="-120"/>
              </a:rPr>
              <a:t>Ledger</a:t>
            </a:r>
            <a:pPr algn="l" indent="0" marL="0">
              <a:lnSpc>
                <a:spcPct val="107000"/>
              </a:lnSpc>
              <a:buNone/>
            </a:pPr>
            <a:r>
              <a:rPr lang="en-US" sz="1400" dirty="0">
                <a:solidFill>
                  <a:srgbClr val="000000"/>
                </a:solidFill>
                <a:latin typeface="Fira Sans" pitchFamily="34" charset="0"/>
                <a:ea typeface="Fira Sans" pitchFamily="34" charset="-122"/>
                <a:cs typeface="Fira Sans" pitchFamily="34" charset="-120"/>
              </a:rPr>
              <a:t>, tests can prove the rules without a database.</a:t>
            </a:r>
            <a:endParaRPr lang="en-US" sz="1400" dirty="0"/>
          </a:p>
        </p:txBody>
      </p:sp>
      <p:sp>
        <p:nvSpPr>
          <p:cNvPr id="12" name="Text 9"/>
          <p:cNvSpPr/>
          <p:nvPr/>
        </p:nvSpPr>
        <p:spPr>
          <a:xfrm>
            <a:off x="11578042" y="6531570"/>
            <a:ext cx="613653"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189" y="457200"/>
            <a:ext cx="11734506" cy="172839"/>
          </a:xfrm>
          <a:prstGeom prst="rect">
            <a:avLst/>
          </a:prstGeom>
          <a:noFill/>
          <a:ln/>
        </p:spPr>
        <p:txBody>
          <a:bodyPr wrap="none" lIns="0" tIns="0" rIns="0" bIns="0" rtlCol="0" anchor="t"/>
          <a:lstStyle/>
          <a:p>
            <a:pPr algn="l" indent="0" marL="0">
              <a:lnSpc>
                <a:spcPct val="100000"/>
              </a:lnSpc>
              <a:buNone/>
            </a:pPr>
            <a:r>
              <a:rPr lang="en-US" sz="1150" spc="23" kern="0" dirty="0">
                <a:solidFill>
                  <a:srgbClr val="B94A0A"/>
                </a:solidFill>
                <a:latin typeface="Fira Mono Medium" pitchFamily="34" charset="0"/>
                <a:ea typeface="Fira Mono Medium" pitchFamily="34" charset="-122"/>
                <a:cs typeface="Fira Mono Medium" pitchFamily="34" charset="-120"/>
              </a:rPr>
              <a:t>JAVA IMPLEMENTATION · 03</a:t>
            </a:r>
            <a:endParaRPr lang="en-US" sz="1150" dirty="0"/>
          </a:p>
        </p:txBody>
      </p:sp>
      <p:sp>
        <p:nvSpPr>
          <p:cNvPr id="3" name="Text 1"/>
          <p:cNvSpPr/>
          <p:nvPr/>
        </p:nvSpPr>
        <p:spPr>
          <a:xfrm>
            <a:off x="457189" y="713680"/>
            <a:ext cx="11277318" cy="371078"/>
          </a:xfrm>
          <a:prstGeom prst="rect">
            <a:avLst/>
          </a:prstGeom>
          <a:noFill/>
          <a:ln/>
        </p:spPr>
        <p:txBody>
          <a:bodyPr wrap="none" lIns="0" tIns="0" rIns="0" bIns="0" rtlCol="0" anchor="t"/>
          <a:lstStyle/>
          <a:p>
            <a:pPr algn="l" indent="0" marL="0">
              <a:lnSpc>
                <a:spcPct val="96000"/>
              </a:lnSpc>
              <a:buNone/>
            </a:pPr>
            <a:r>
              <a:rPr lang="en-US" sz="2550" spc="-25" kern="0" dirty="0">
                <a:solidFill>
                  <a:srgbClr val="1F2937"/>
                </a:solidFill>
                <a:latin typeface="Fira Sans SemiBold" pitchFamily="34" charset="0"/>
                <a:ea typeface="Fira Sans SemiBold" pitchFamily="34" charset="-122"/>
                <a:cs typeface="Fira Sans SemiBold" pitchFamily="34" charset="-120"/>
              </a:rPr>
              <a:t>The statement generator is a pure read</a:t>
            </a:r>
            <a:endParaRPr lang="en-US" sz="2550" dirty="0"/>
          </a:p>
        </p:txBody>
      </p:sp>
      <p:sp>
        <p:nvSpPr>
          <p:cNvPr id="4" name="Text 2"/>
          <p:cNvSpPr/>
          <p:nvPr/>
        </p:nvSpPr>
        <p:spPr>
          <a:xfrm>
            <a:off x="457189" y="1293912"/>
            <a:ext cx="6852768" cy="344587"/>
          </a:xfrm>
          <a:prstGeom prst="rect">
            <a:avLst/>
          </a:prstGeom>
          <a:noFill/>
          <a:ln/>
        </p:spPr>
        <p:txBody>
          <a:bodyPr wrap="none" lIns="0" tIns="0" rIns="0" bIns="0" rtlCol="0" anchor="t"/>
          <a:lstStyle/>
          <a:p>
            <a:pPr algn="l" indent="0" marL="0">
              <a:lnSpc>
                <a:spcPct val="108000"/>
              </a:lnSpc>
              <a:buNone/>
            </a:pPr>
            <a:r>
              <a:rPr lang="en-US" sz="2100" dirty="0">
                <a:solidFill>
                  <a:srgbClr val="1F2937"/>
                </a:solidFill>
                <a:latin typeface="Fira Sans" pitchFamily="34" charset="0"/>
                <a:ea typeface="Fira Sans" pitchFamily="34" charset="-122"/>
                <a:cs typeface="Fira Sans" pitchFamily="34" charset="-120"/>
              </a:rPr>
              <a:t>Filter, map, summarize</a:t>
            </a:r>
            <a:endParaRPr lang="en-US" sz="2100" dirty="0"/>
          </a:p>
        </p:txBody>
      </p:sp>
      <p:sp>
        <p:nvSpPr>
          <p:cNvPr id="5" name="Shape 3"/>
          <p:cNvSpPr/>
          <p:nvPr/>
        </p:nvSpPr>
        <p:spPr>
          <a:xfrm>
            <a:off x="457189" y="1858863"/>
            <a:ext cx="6852768" cy="4781153"/>
          </a:xfrm>
          <a:prstGeom prst="roundRect">
            <a:avLst>
              <a:gd name="adj" fmla="val 239"/>
            </a:avLst>
          </a:prstGeom>
          <a:solidFill>
            <a:srgbClr val="F3F5F8"/>
          </a:solidFill>
          <a:ln/>
        </p:spPr>
      </p:sp>
      <p:sp>
        <p:nvSpPr>
          <p:cNvPr id="6" name="Text 4"/>
          <p:cNvSpPr/>
          <p:nvPr/>
        </p:nvSpPr>
        <p:spPr>
          <a:xfrm>
            <a:off x="692232" y="2054721"/>
            <a:ext cx="6382682" cy="4389438"/>
          </a:xfrm>
          <a:prstGeom prst="rect">
            <a:avLst/>
          </a:prstGeom>
          <a:noFill/>
          <a:ln/>
        </p:spPr>
        <p:txBody>
          <a:bodyPr wrap="square" lIns="0" tIns="0" rIns="0" bIns="0" rtlCol="0" anchor="t">
            <a:normAutofit/>
          </a:bodyPr>
          <a:lstStyle/>
          <a:p>
            <a:pPr algn="l" indent="0" marL="0">
              <a:lnSpc>
                <a:spcPct val="133000"/>
              </a:lnSpc>
              <a:buNone/>
            </a:pPr>
            <a:r>
              <a:rPr lang="en-US" sz="1550" dirty="0">
                <a:solidFill>
                  <a:srgbClr val="D73A49"/>
                </a:solidFill>
                <a:latin typeface="Consolas" pitchFamily="34" charset="0"/>
                <a:ea typeface="Consolas" pitchFamily="34" charset="-122"/>
                <a:cs typeface="Consolas" pitchFamily="34" charset="-120"/>
              </a:rPr>
              <a:t>record Statement(LocalDate from,</a:t>
            </a:r>
            <a:endParaRPr lang="en-US" sz="1550" dirty="0"/>
          </a:p>
          <a:p>
            <a:pPr algn="l" indent="0" marL="0">
              <a:lnSpc>
                <a:spcPct val="133000"/>
              </a:lnSpc>
              <a:buNone/>
            </a:pPr>
            <a:r>
              <a:rPr lang="en-US" sz="1550" dirty="0">
                <a:solidFill>
                  <a:srgbClr val="D73A49"/>
                </a:solidFill>
                <a:latin typeface="Consolas" pitchFamily="34" charset="0"/>
                <a:ea typeface="Consolas" pitchFamily="34" charset="-122"/>
                <a:cs typeface="Consolas" pitchFamily="34" charset="-120"/>
              </a:rPr>
              <a:t>                 LocalDate to,</a:t>
            </a:r>
            <a:endParaRPr lang="en-US" sz="1550" dirty="0"/>
          </a:p>
          <a:p>
            <a:pPr algn="l" indent="0" marL="0">
              <a:lnSpc>
                <a:spcPct val="133000"/>
              </a:lnSpc>
              <a:buNone/>
            </a:pPr>
            <a:r>
              <a:rPr lang="en-US" sz="1550" dirty="0">
                <a:solidFill>
                  <a:srgbClr val="D73A49"/>
                </a:solidFill>
                <a:latin typeface="Consolas" pitchFamily="34" charset="0"/>
                <a:ea typeface="Consolas" pitchFamily="34" charset="-122"/>
                <a:cs typeface="Consolas" pitchFamily="34" charset="-120"/>
              </a:rPr>
              <a:t>                 List&lt;Transaction&gt; rows,</a:t>
            </a:r>
            <a:endParaRPr lang="en-US" sz="1550" dirty="0"/>
          </a:p>
          <a:p>
            <a:pPr algn="l" indent="0" marL="0">
              <a:lnSpc>
                <a:spcPct val="133000"/>
              </a:lnSpc>
              <a:buNone/>
            </a:pPr>
            <a:r>
              <a:rPr lang="en-US" sz="1550" dirty="0">
                <a:solidFill>
                  <a:srgbClr val="D73A49"/>
                </a:solidFill>
                <a:latin typeface="Consolas" pitchFamily="34" charset="0"/>
                <a:ea typeface="Consolas" pitchFamily="34" charset="-122"/>
                <a:cs typeface="Consolas" pitchFamily="34" charset="-120"/>
              </a:rPr>
              <a:t>                 Money closingBalance) {}</a:t>
            </a:r>
            <a:endParaRPr lang="en-US" sz="1550" dirty="0"/>
          </a:p>
          <a:p>
            <a:pPr algn="l" indent="0" marL="0">
              <a:lnSpc>
                <a:spcPct val="133000"/>
              </a:lnSpc>
              <a:buNone/>
            </a:pPr>
            <a:endParaRPr lang="en-US" sz="1550" dirty="0"/>
          </a:p>
          <a:p>
            <a:pPr algn="l" indent="0" marL="0">
              <a:lnSpc>
                <a:spcPct val="133000"/>
              </a:lnSpc>
              <a:buNone/>
            </a:pPr>
            <a:r>
              <a:rPr lang="en-US" sz="1550" dirty="0">
                <a:solidFill>
                  <a:srgbClr val="D73A49"/>
                </a:solidFill>
                <a:latin typeface="Consolas" pitchFamily="34" charset="0"/>
                <a:ea typeface="Consolas" pitchFamily="34" charset="-122"/>
                <a:cs typeface="Consolas" pitchFamily="34" charset="-120"/>
              </a:rPr>
              <a:t>Statement generate(Ledger ledger,</a:t>
            </a:r>
            <a:endParaRPr lang="en-US" sz="1550" dirty="0"/>
          </a:p>
          <a:p>
            <a:pPr algn="l" indent="0" marL="0">
              <a:lnSpc>
                <a:spcPct val="133000"/>
              </a:lnSpc>
              <a:buNone/>
            </a:pPr>
            <a:r>
              <a:rPr lang="en-US" sz="1550" dirty="0">
                <a:solidFill>
                  <a:srgbClr val="D73A49"/>
                </a:solidFill>
                <a:latin typeface="Consolas" pitchFamily="34" charset="0"/>
                <a:ea typeface="Consolas" pitchFamily="34" charset="-122"/>
                <a:cs typeface="Consolas" pitchFamily="34" charset="-120"/>
              </a:rPr>
              <a:t>                    LocalDate from, LocalDate to) {</a:t>
            </a:r>
            <a:endParaRPr lang="en-US" sz="1550" dirty="0"/>
          </a:p>
          <a:p>
            <a:pPr algn="l" indent="0" marL="0">
              <a:lnSpc>
                <a:spcPct val="133000"/>
              </a:lnSpc>
              <a:buNone/>
            </a:pPr>
            <a:r>
              <a:rPr lang="en-US" sz="1550" dirty="0">
                <a:solidFill>
                  <a:srgbClr val="D73A49"/>
                </a:solidFill>
                <a:latin typeface="Consolas" pitchFamily="34" charset="0"/>
                <a:ea typeface="Consolas" pitchFamily="34" charset="-122"/>
                <a:cs typeface="Consolas" pitchFamily="34" charset="-120"/>
              </a:rPr>
              <a:t>  var rows = ledger.entries().stream()</a:t>
            </a:r>
            <a:endParaRPr lang="en-US" sz="1550" dirty="0"/>
          </a:p>
          <a:p>
            <a:pPr algn="l" indent="0" marL="0">
              <a:lnSpc>
                <a:spcPct val="133000"/>
              </a:lnSpc>
              <a:buNone/>
            </a:pPr>
            <a:r>
              <a:rPr lang="en-US" sz="1550" dirty="0">
                <a:solidFill>
                  <a:srgbClr val="D73A49"/>
                </a:solidFill>
                <a:latin typeface="Consolas" pitchFamily="34" charset="0"/>
                <a:ea typeface="Consolas" pitchFamily="34" charset="-122"/>
                <a:cs typeface="Consolas" pitchFamily="34" charset="-120"/>
              </a:rPr>
              <a:t>      .filter(t -&gt; !t.date().isBefore(from))</a:t>
            </a:r>
            <a:endParaRPr lang="en-US" sz="1550" dirty="0"/>
          </a:p>
          <a:p>
            <a:pPr algn="l" indent="0" marL="0">
              <a:lnSpc>
                <a:spcPct val="133000"/>
              </a:lnSpc>
              <a:buNone/>
            </a:pPr>
            <a:r>
              <a:rPr lang="en-US" sz="1550" dirty="0">
                <a:solidFill>
                  <a:srgbClr val="D73A49"/>
                </a:solidFill>
                <a:latin typeface="Consolas" pitchFamily="34" charset="0"/>
                <a:ea typeface="Consolas" pitchFamily="34" charset="-122"/>
                <a:cs typeface="Consolas" pitchFamily="34" charset="-120"/>
              </a:rPr>
              <a:t>      .filter(t -&gt; !t.date().isAfter(to))</a:t>
            </a:r>
            <a:endParaRPr lang="en-US" sz="1550" dirty="0"/>
          </a:p>
          <a:p>
            <a:pPr algn="l" indent="0" marL="0">
              <a:lnSpc>
                <a:spcPct val="133000"/>
              </a:lnSpc>
              <a:buNone/>
            </a:pPr>
            <a:r>
              <a:rPr lang="en-US" sz="1550" dirty="0">
                <a:solidFill>
                  <a:srgbClr val="D73A49"/>
                </a:solidFill>
                <a:latin typeface="Consolas" pitchFamily="34" charset="0"/>
                <a:ea typeface="Consolas" pitchFamily="34" charset="-122"/>
                <a:cs typeface="Consolas" pitchFamily="34" charset="-120"/>
              </a:rPr>
              <a:t>      .toList();</a:t>
            </a:r>
            <a:endParaRPr lang="en-US" sz="1550" dirty="0"/>
          </a:p>
          <a:p>
            <a:pPr algn="l" indent="0" marL="0">
              <a:lnSpc>
                <a:spcPct val="133000"/>
              </a:lnSpc>
              <a:buNone/>
            </a:pPr>
            <a:r>
              <a:rPr lang="en-US" sz="1550" dirty="0">
                <a:solidFill>
                  <a:srgbClr val="D73A49"/>
                </a:solidFill>
                <a:latin typeface="Consolas" pitchFamily="34" charset="0"/>
                <a:ea typeface="Consolas" pitchFamily="34" charset="-122"/>
                <a:cs typeface="Consolas" pitchFamily="34" charset="-120"/>
              </a:rPr>
              <a:t>  return new Statement(from, to, rows,</a:t>
            </a:r>
            <a:endParaRPr lang="en-US" sz="1550" dirty="0"/>
          </a:p>
          <a:p>
            <a:pPr algn="l" indent="0" marL="0">
              <a:lnSpc>
                <a:spcPct val="133000"/>
              </a:lnSpc>
              <a:buNone/>
            </a:pPr>
            <a:r>
              <a:rPr lang="en-US" sz="1550" dirty="0">
                <a:solidFill>
                  <a:srgbClr val="D73A49"/>
                </a:solidFill>
                <a:latin typeface="Consolas" pitchFamily="34" charset="0"/>
                <a:ea typeface="Consolas" pitchFamily="34" charset="-122"/>
                <a:cs typeface="Consolas" pitchFamily="34" charset="-120"/>
              </a:rPr>
              <a:t>                       ledger.balanceAt(to));</a:t>
            </a:r>
            <a:endParaRPr lang="en-US" sz="1550" dirty="0"/>
          </a:p>
          <a:p>
            <a:pPr algn="l" indent="0" marL="0">
              <a:lnSpc>
                <a:spcPct val="133000"/>
              </a:lnSpc>
              <a:buNone/>
            </a:pPr>
            <a:r>
              <a:rPr lang="en-US" sz="1550" dirty="0">
                <a:solidFill>
                  <a:srgbClr val="D73A49"/>
                </a:solidFill>
                <a:latin typeface="Consolas" pitchFamily="34" charset="0"/>
                <a:ea typeface="Consolas" pitchFamily="34" charset="-122"/>
                <a:cs typeface="Consolas" pitchFamily="34" charset="-120"/>
              </a:rPr>
              <a:t>}</a:t>
            </a:r>
            <a:endParaRPr lang="en-US" sz="1550" dirty="0"/>
          </a:p>
        </p:txBody>
      </p:sp>
      <p:sp>
        <p:nvSpPr>
          <p:cNvPr id="7" name="Text 5"/>
          <p:cNvSpPr/>
          <p:nvPr/>
        </p:nvSpPr>
        <p:spPr>
          <a:xfrm>
            <a:off x="7767046" y="1293912"/>
            <a:ext cx="3967460" cy="344587"/>
          </a:xfrm>
          <a:prstGeom prst="rect">
            <a:avLst/>
          </a:prstGeom>
          <a:noFill/>
          <a:ln/>
        </p:spPr>
        <p:txBody>
          <a:bodyPr wrap="none" lIns="0" tIns="0" rIns="0" bIns="0" rtlCol="0" anchor="t"/>
          <a:lstStyle/>
          <a:p>
            <a:pPr algn="l" indent="0" marL="0">
              <a:lnSpc>
                <a:spcPct val="108000"/>
              </a:lnSpc>
              <a:buNone/>
            </a:pPr>
            <a:r>
              <a:rPr lang="en-US" sz="2100" dirty="0">
                <a:solidFill>
                  <a:srgbClr val="1F2937"/>
                </a:solidFill>
                <a:latin typeface="Fira Sans" pitchFamily="34" charset="0"/>
                <a:ea typeface="Fira Sans" pitchFamily="34" charset="-122"/>
                <a:cs typeface="Fira Sans" pitchFamily="34" charset="-120"/>
              </a:rPr>
              <a:t>Read-only by design</a:t>
            </a:r>
            <a:endParaRPr lang="en-US" sz="2100" dirty="0"/>
          </a:p>
        </p:txBody>
      </p:sp>
      <p:sp>
        <p:nvSpPr>
          <p:cNvPr id="8" name="Text 6"/>
          <p:cNvSpPr/>
          <p:nvPr/>
        </p:nvSpPr>
        <p:spPr>
          <a:xfrm>
            <a:off x="7767046" y="1790105"/>
            <a:ext cx="3967460" cy="784920"/>
          </a:xfrm>
          <a:prstGeom prst="rect">
            <a:avLst/>
          </a:prstGeom>
          <a:noFill/>
          <a:ln/>
        </p:spPr>
        <p:txBody>
          <a:bodyPr wrap="square" lIns="0" tIns="0" rIns="0" bIns="0" rtlCol="0" anchor="t">
            <a:normAutofit/>
          </a:bodyPr>
          <a:lstStyle/>
          <a:p>
            <a:pPr algn="l" indent="0" marL="0">
              <a:lnSpc>
                <a:spcPct val="111000"/>
              </a:lnSpc>
              <a:buNone/>
            </a:pPr>
            <a:r>
              <a:rPr lang="en-US" sz="1550" dirty="0">
                <a:solidFill>
                  <a:srgbClr val="1F2937"/>
                </a:solidFill>
                <a:latin typeface="Fira Sans" pitchFamily="34" charset="0"/>
                <a:ea typeface="Fira Sans" pitchFamily="34" charset="-122"/>
                <a:cs typeface="Fira Sans" pitchFamily="34" charset="-120"/>
              </a:rPr>
              <a:t>The generator never deposits, withdraws, or edits history. It answers a question about the ledger at a chosen date range.</a:t>
            </a:r>
            <a:endParaRPr lang="en-US" sz="1550" dirty="0"/>
          </a:p>
        </p:txBody>
      </p:sp>
      <p:sp>
        <p:nvSpPr>
          <p:cNvPr id="9" name="Shape 7"/>
          <p:cNvSpPr/>
          <p:nvPr/>
        </p:nvSpPr>
        <p:spPr>
          <a:xfrm>
            <a:off x="7767046" y="2746772"/>
            <a:ext cx="1309159" cy="38100"/>
          </a:xfrm>
          <a:prstGeom prst="roundRect">
            <a:avLst>
              <a:gd name="adj" fmla="val 49999"/>
            </a:avLst>
          </a:prstGeom>
          <a:solidFill>
            <a:srgbClr val="0A7C78"/>
          </a:solidFill>
          <a:ln/>
        </p:spPr>
      </p:sp>
      <p:sp>
        <p:nvSpPr>
          <p:cNvPr id="10" name="Text 8"/>
          <p:cNvSpPr/>
          <p:nvPr/>
        </p:nvSpPr>
        <p:spPr>
          <a:xfrm>
            <a:off x="7767046" y="2956620"/>
            <a:ext cx="3967460" cy="374452"/>
          </a:xfrm>
          <a:prstGeom prst="rect">
            <a:avLst/>
          </a:prstGeom>
          <a:noFill/>
          <a:ln/>
        </p:spPr>
        <p:txBody>
          <a:bodyPr wrap="square" lIns="0" tIns="0" rIns="0" bIns="0" rtlCol="0" anchor="t">
            <a:normAutofit/>
          </a:bodyPr>
          <a:lstStyle/>
          <a:p>
            <a:pPr algn="l" indent="0" marL="0">
              <a:lnSpc>
                <a:spcPct val="108000"/>
              </a:lnSpc>
              <a:buNone/>
            </a:pPr>
            <a:r>
              <a:rPr lang="en-US" sz="1150" dirty="0">
                <a:solidFill>
                  <a:srgbClr val="5B6577"/>
                </a:solidFill>
                <a:latin typeface="Fira Sans" pitchFamily="34" charset="0"/>
                <a:ea typeface="Fira Sans" pitchFamily="34" charset="-122"/>
                <a:cs typeface="Fira Sans" pitchFamily="34" charset="-120"/>
              </a:rPr>
              <a:t>That separation makes date filtering, closing balances, and formatting independently testable.</a:t>
            </a:r>
            <a:endParaRPr lang="en-US" sz="1150" dirty="0"/>
          </a:p>
        </p:txBody>
      </p:sp>
      <p:sp>
        <p:nvSpPr>
          <p:cNvPr id="11" name="Text 9"/>
          <p:cNvSpPr/>
          <p:nvPr/>
        </p:nvSpPr>
        <p:spPr>
          <a:xfrm>
            <a:off x="11578042" y="6531570"/>
            <a:ext cx="613653"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189" y="457200"/>
            <a:ext cx="11734506" cy="190500"/>
          </a:xfrm>
          <a:prstGeom prst="rect">
            <a:avLst/>
          </a:prstGeom>
          <a:noFill/>
          <a:ln/>
        </p:spPr>
        <p:txBody>
          <a:bodyPr wrap="none" lIns="0" tIns="0" rIns="0" bIns="0" rtlCol="0" anchor="t"/>
          <a:lstStyle/>
          <a:p>
            <a:pPr algn="l" indent="0" marL="0">
              <a:lnSpc>
                <a:spcPct val="100000"/>
              </a:lnSpc>
              <a:buNone/>
            </a:pPr>
            <a:r>
              <a:rPr lang="en-US" sz="1250" spc="25" kern="0" dirty="0">
                <a:solidFill>
                  <a:srgbClr val="B94A0A"/>
                </a:solidFill>
                <a:latin typeface="Fira Mono Medium" pitchFamily="34" charset="0"/>
                <a:ea typeface="Fira Mono Medium" pitchFamily="34" charset="-122"/>
                <a:cs typeface="Fira Mono Medium" pitchFamily="34" charset="-120"/>
              </a:rPr>
              <a:t>JAVA IMPLEMENTATION · 04</a:t>
            </a:r>
            <a:endParaRPr lang="en-US" sz="1250" dirty="0"/>
          </a:p>
        </p:txBody>
      </p:sp>
      <p:sp>
        <p:nvSpPr>
          <p:cNvPr id="3" name="Text 1"/>
          <p:cNvSpPr/>
          <p:nvPr/>
        </p:nvSpPr>
        <p:spPr>
          <a:xfrm>
            <a:off x="457189" y="749300"/>
            <a:ext cx="11277318" cy="408880"/>
          </a:xfrm>
          <a:prstGeom prst="rect">
            <a:avLst/>
          </a:prstGeom>
          <a:noFill/>
          <a:ln/>
        </p:spPr>
        <p:txBody>
          <a:bodyPr wrap="none" lIns="0" tIns="0" rIns="0" bIns="0" rtlCol="0" anchor="t"/>
          <a:lstStyle/>
          <a:p>
            <a:pPr algn="l" indent="0" marL="0">
              <a:lnSpc>
                <a:spcPct val="96000"/>
              </a:lnSpc>
              <a:buNone/>
            </a:pPr>
            <a:r>
              <a:rPr lang="en-US" sz="2800" spc="-28" kern="0" dirty="0">
                <a:solidFill>
                  <a:srgbClr val="1F2937"/>
                </a:solidFill>
                <a:latin typeface="Fira Sans SemiBold" pitchFamily="34" charset="0"/>
                <a:ea typeface="Fira Sans SemiBold" pitchFamily="34" charset="-122"/>
                <a:cs typeface="Fira Sans SemiBold" pitchFamily="34" charset="-120"/>
              </a:rPr>
              <a:t>Run the demo like a user, then show the evidence</a:t>
            </a:r>
            <a:endParaRPr lang="en-US" sz="2800" dirty="0"/>
          </a:p>
        </p:txBody>
      </p:sp>
      <p:sp>
        <p:nvSpPr>
          <p:cNvPr id="4" name="Text 2"/>
          <p:cNvSpPr/>
          <p:nvPr/>
        </p:nvSpPr>
        <p:spPr>
          <a:xfrm>
            <a:off x="457189" y="1412180"/>
            <a:ext cx="5410065"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Main flow</a:t>
            </a:r>
            <a:endParaRPr lang="en-US" sz="2300" dirty="0"/>
          </a:p>
        </p:txBody>
      </p:sp>
      <p:sp>
        <p:nvSpPr>
          <p:cNvPr id="5" name="Shape 3"/>
          <p:cNvSpPr/>
          <p:nvPr/>
        </p:nvSpPr>
        <p:spPr>
          <a:xfrm>
            <a:off x="457189" y="2034778"/>
            <a:ext cx="5410065" cy="3194844"/>
          </a:xfrm>
          <a:prstGeom prst="roundRect">
            <a:avLst>
              <a:gd name="adj" fmla="val 358"/>
            </a:avLst>
          </a:prstGeom>
          <a:solidFill>
            <a:srgbClr val="F3F5F8"/>
          </a:solidFill>
          <a:ln/>
        </p:spPr>
      </p:sp>
      <p:sp>
        <p:nvSpPr>
          <p:cNvPr id="6" name="Text 4"/>
          <p:cNvSpPr/>
          <p:nvPr/>
        </p:nvSpPr>
        <p:spPr>
          <a:xfrm>
            <a:off x="716242" y="2250678"/>
            <a:ext cx="4891957" cy="2763044"/>
          </a:xfrm>
          <a:prstGeom prst="rect">
            <a:avLst/>
          </a:prstGeom>
          <a:noFill/>
          <a:ln/>
        </p:spPr>
        <p:txBody>
          <a:bodyPr wrap="square" lIns="0" tIns="0" rIns="0" bIns="0" rtlCol="0" anchor="t">
            <a:normAutofit/>
          </a:bodyPr>
          <a:lstStyle/>
          <a:p>
            <a:pPr algn="l" indent="0" marL="0">
              <a:lnSpc>
                <a:spcPct val="133000"/>
              </a:lnSpc>
              <a:buNone/>
            </a:pPr>
            <a:r>
              <a:rPr lang="en-US" sz="1700" dirty="0">
                <a:solidFill>
                  <a:srgbClr val="D73A49"/>
                </a:solidFill>
                <a:latin typeface="Consolas" pitchFamily="34" charset="0"/>
                <a:ea typeface="Consolas" pitchFamily="34" charset="-122"/>
                <a:cs typeface="Consolas" pitchFamily="34" charset="-120"/>
              </a:rPr>
              <a:t>var ledger = new Ledger();</a:t>
            </a:r>
            <a:endParaRPr lang="en-US" sz="1700" dirty="0"/>
          </a:p>
          <a:p>
            <a:pPr algn="l" indent="0" marL="0">
              <a:lnSpc>
                <a:spcPct val="133000"/>
              </a:lnSpc>
              <a:buNone/>
            </a:pPr>
            <a:r>
              <a:rPr lang="en-US" sz="1700" dirty="0">
                <a:solidFill>
                  <a:srgbClr val="D73A49"/>
                </a:solidFill>
                <a:latin typeface="Consolas" pitchFamily="34" charset="0"/>
                <a:ea typeface="Consolas" pitchFamily="34" charset="-122"/>
                <a:cs typeface="Consolas" pitchFamily="34" charset="-120"/>
              </a:rPr>
              <a:t>ledger.open("checking", Money.of("500.00"));</a:t>
            </a:r>
            <a:endParaRPr lang="en-US" sz="1700" dirty="0"/>
          </a:p>
          <a:p>
            <a:pPr algn="l" indent="0" marL="0">
              <a:lnSpc>
                <a:spcPct val="133000"/>
              </a:lnSpc>
              <a:buNone/>
            </a:pPr>
            <a:r>
              <a:rPr lang="en-US" sz="1700" dirty="0">
                <a:solidFill>
                  <a:srgbClr val="D73A49"/>
                </a:solidFill>
                <a:latin typeface="Consolas" pitchFamily="34" charset="0"/>
                <a:ea typeface="Consolas" pitchFamily="34" charset="-122"/>
                <a:cs typeface="Consolas" pitchFamily="34" charset="-120"/>
              </a:rPr>
              <a:t>ledger.deposit("checking", Money.of("250.00"));</a:t>
            </a:r>
            <a:endParaRPr lang="en-US" sz="1700" dirty="0"/>
          </a:p>
          <a:p>
            <a:pPr algn="l" indent="0" marL="0">
              <a:lnSpc>
                <a:spcPct val="133000"/>
              </a:lnSpc>
              <a:buNone/>
            </a:pPr>
            <a:r>
              <a:rPr lang="en-US" sz="1700" dirty="0">
                <a:solidFill>
                  <a:srgbClr val="D73A49"/>
                </a:solidFill>
                <a:latin typeface="Consolas" pitchFamily="34" charset="0"/>
                <a:ea typeface="Consolas" pitchFamily="34" charset="-122"/>
                <a:cs typeface="Consolas" pitchFamily="34" charset="-120"/>
              </a:rPr>
              <a:t>ledger.withdraw("checking", Money.of("80.00"));</a:t>
            </a:r>
            <a:endParaRPr lang="en-US" sz="1700" dirty="0"/>
          </a:p>
          <a:p>
            <a:pPr algn="l" indent="0" marL="0">
              <a:lnSpc>
                <a:spcPct val="133000"/>
              </a:lnSpc>
              <a:buNone/>
            </a:pPr>
            <a:endParaRPr lang="en-US" sz="1700" dirty="0"/>
          </a:p>
          <a:p>
            <a:pPr algn="l" indent="0" marL="0">
              <a:lnSpc>
                <a:spcPct val="133000"/>
              </a:lnSpc>
              <a:buNone/>
            </a:pPr>
            <a:r>
              <a:rPr lang="en-US" sz="1700" dirty="0">
                <a:solidFill>
                  <a:srgbClr val="D73A49"/>
                </a:solidFill>
                <a:latin typeface="Consolas" pitchFamily="34" charset="0"/>
                <a:ea typeface="Consolas" pitchFamily="34" charset="-122"/>
                <a:cs typeface="Consolas" pitchFamily="34" charset="-120"/>
              </a:rPr>
              <a:t>var statement = generator.generate(</a:t>
            </a:r>
            <a:endParaRPr lang="en-US" sz="1700" dirty="0"/>
          </a:p>
          <a:p>
            <a:pPr algn="l" indent="0" marL="0">
              <a:lnSpc>
                <a:spcPct val="133000"/>
              </a:lnSpc>
              <a:buNone/>
            </a:pPr>
            <a:r>
              <a:rPr lang="en-US" sz="1700" dirty="0">
                <a:solidFill>
                  <a:srgbClr val="D73A49"/>
                </a:solidFill>
                <a:latin typeface="Consolas" pitchFamily="34" charset="0"/>
                <a:ea typeface="Consolas" pitchFamily="34" charset="-122"/>
                <a:cs typeface="Consolas" pitchFamily="34" charset="-120"/>
              </a:rPr>
              <a:t>    ledger, LocalDate.of(2026, 9, 1), today());</a:t>
            </a:r>
            <a:endParaRPr lang="en-US" sz="1700" dirty="0"/>
          </a:p>
          <a:p>
            <a:pPr algn="l" indent="0" marL="0">
              <a:lnSpc>
                <a:spcPct val="133000"/>
              </a:lnSpc>
              <a:buNone/>
            </a:pPr>
            <a:r>
              <a:rPr lang="en-US" sz="1700" dirty="0">
                <a:solidFill>
                  <a:srgbClr val="D73A49"/>
                </a:solidFill>
                <a:latin typeface="Consolas" pitchFamily="34" charset="0"/>
                <a:ea typeface="Consolas" pitchFamily="34" charset="-122"/>
                <a:cs typeface="Consolas" pitchFamily="34" charset="-120"/>
              </a:rPr>
              <a:t>printer.print(statement);</a:t>
            </a:r>
            <a:endParaRPr lang="en-US" sz="1700" dirty="0"/>
          </a:p>
        </p:txBody>
      </p:sp>
      <p:sp>
        <p:nvSpPr>
          <p:cNvPr id="7" name="Text 5"/>
          <p:cNvSpPr/>
          <p:nvPr/>
        </p:nvSpPr>
        <p:spPr>
          <a:xfrm>
            <a:off x="6324442" y="1412180"/>
            <a:ext cx="5410065"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Sample output</a:t>
            </a:r>
            <a:endParaRPr lang="en-US" sz="2300" dirty="0"/>
          </a:p>
        </p:txBody>
      </p:sp>
      <p:sp>
        <p:nvSpPr>
          <p:cNvPr id="8" name="Shape 6"/>
          <p:cNvSpPr/>
          <p:nvPr/>
        </p:nvSpPr>
        <p:spPr>
          <a:xfrm>
            <a:off x="6324442" y="2034778"/>
            <a:ext cx="5410065" cy="2158702"/>
          </a:xfrm>
          <a:prstGeom prst="roundRect">
            <a:avLst>
              <a:gd name="adj" fmla="val 529"/>
            </a:avLst>
          </a:prstGeom>
          <a:solidFill>
            <a:srgbClr val="F3F5F8"/>
          </a:solidFill>
          <a:ln/>
        </p:spPr>
      </p:sp>
      <p:sp>
        <p:nvSpPr>
          <p:cNvPr id="9" name="Text 7"/>
          <p:cNvSpPr/>
          <p:nvPr/>
        </p:nvSpPr>
        <p:spPr>
          <a:xfrm>
            <a:off x="6583495" y="2250678"/>
            <a:ext cx="4891957" cy="1726902"/>
          </a:xfrm>
          <a:prstGeom prst="rect">
            <a:avLst/>
          </a:prstGeom>
          <a:noFill/>
          <a:ln/>
        </p:spPr>
        <p:txBody>
          <a:bodyPr wrap="square" lIns="0" tIns="0" rIns="0" bIns="0" rtlCol="0" anchor="t">
            <a:normAutofit/>
          </a:bodyPr>
          <a:lstStyle/>
          <a:p>
            <a:pPr algn="l" indent="0" marL="0">
              <a:lnSpc>
                <a:spcPct val="133000"/>
              </a:lnSpc>
              <a:buNone/>
            </a:pPr>
            <a:r>
              <a:rPr lang="en-US" sz="1700" dirty="0">
                <a:solidFill>
                  <a:srgbClr val="24292E"/>
                </a:solidFill>
                <a:latin typeface="Consolas" pitchFamily="34" charset="0"/>
                <a:ea typeface="Consolas" pitchFamily="34" charset="-122"/>
                <a:cs typeface="Consolas" pitchFamily="34" charset="-120"/>
              </a:rPr>
              <a:t>CHECKING · 01 Sep–11 Sep 2026</a:t>
            </a:r>
            <a:endParaRPr lang="en-US" sz="1700" dirty="0"/>
          </a:p>
          <a:p>
            <a:pPr algn="l" indent="0" marL="0">
              <a:lnSpc>
                <a:spcPct val="133000"/>
              </a:lnSpc>
              <a:buNone/>
            </a:pPr>
            <a:r>
              <a:rPr lang="en-US" sz="1700" dirty="0">
                <a:solidFill>
                  <a:srgbClr val="24292E"/>
                </a:solidFill>
                <a:latin typeface="Consolas" pitchFamily="34" charset="0"/>
                <a:ea typeface="Consolas" pitchFamily="34" charset="-122"/>
                <a:cs typeface="Consolas" pitchFamily="34" charset="-120"/>
              </a:rPr>
              <a:t>09 Sep  Deposit       +250.00</a:t>
            </a:r>
            <a:endParaRPr lang="en-US" sz="1700" dirty="0"/>
          </a:p>
          <a:p>
            <a:pPr algn="l" indent="0" marL="0">
              <a:lnSpc>
                <a:spcPct val="133000"/>
              </a:lnSpc>
              <a:buNone/>
            </a:pPr>
            <a:r>
              <a:rPr lang="en-US" sz="1700" dirty="0">
                <a:solidFill>
                  <a:srgbClr val="24292E"/>
                </a:solidFill>
                <a:latin typeface="Consolas" pitchFamily="34" charset="0"/>
                <a:ea typeface="Consolas" pitchFamily="34" charset="-122"/>
                <a:cs typeface="Consolas" pitchFamily="34" charset="-120"/>
              </a:rPr>
              <a:t>10 Sep  Withdrawal     -80.00</a:t>
            </a:r>
            <a:endParaRPr lang="en-US" sz="1700" dirty="0"/>
          </a:p>
          <a:p>
            <a:pPr algn="l" indent="0" marL="0">
              <a:lnSpc>
                <a:spcPct val="133000"/>
              </a:lnSpc>
              <a:buNone/>
            </a:pPr>
            <a:r>
              <a:rPr lang="en-US" sz="1700" dirty="0">
                <a:solidFill>
                  <a:srgbClr val="24292E"/>
                </a:solidFill>
                <a:latin typeface="Consolas" pitchFamily="34" charset="0"/>
                <a:ea typeface="Consolas" pitchFamily="34" charset="-122"/>
                <a:cs typeface="Consolas" pitchFamily="34" charset="-120"/>
              </a:rPr>
              <a:t>--------------------------------</a:t>
            </a:r>
            <a:endParaRPr lang="en-US" sz="1700" dirty="0"/>
          </a:p>
          <a:p>
            <a:pPr algn="l" indent="0" marL="0">
              <a:lnSpc>
                <a:spcPct val="133000"/>
              </a:lnSpc>
              <a:buNone/>
            </a:pPr>
            <a:r>
              <a:rPr lang="en-US" sz="1700" dirty="0">
                <a:solidFill>
                  <a:srgbClr val="24292E"/>
                </a:solidFill>
                <a:latin typeface="Consolas" pitchFamily="34" charset="0"/>
                <a:ea typeface="Consolas" pitchFamily="34" charset="-122"/>
                <a:cs typeface="Consolas" pitchFamily="34" charset="-120"/>
              </a:rPr>
              <a:t>Closing balance       670.00</a:t>
            </a:r>
            <a:endParaRPr lang="en-US" sz="1700" dirty="0"/>
          </a:p>
        </p:txBody>
      </p:sp>
      <p:sp>
        <p:nvSpPr>
          <p:cNvPr id="10" name="Text 8"/>
          <p:cNvSpPr/>
          <p:nvPr/>
        </p:nvSpPr>
        <p:spPr>
          <a:xfrm>
            <a:off x="6324442" y="4436368"/>
            <a:ext cx="5410065" cy="379710"/>
          </a:xfrm>
          <a:prstGeom prst="rect">
            <a:avLst/>
          </a:prstGeom>
          <a:noFill/>
          <a:ln/>
        </p:spPr>
        <p:txBody>
          <a:bodyPr wrap="none" lIns="0" tIns="0" rIns="0" bIns="0" rtlCol="0" anchor="t"/>
          <a:lstStyle/>
          <a:p>
            <a:pPr algn="l" indent="0" marL="0">
              <a:lnSpc>
                <a:spcPct val="108000"/>
              </a:lnSpc>
              <a:buNone/>
            </a:pPr>
            <a:r>
              <a:rPr lang="en-US" sz="2300" dirty="0">
                <a:solidFill>
                  <a:srgbClr val="1F2937"/>
                </a:solidFill>
                <a:latin typeface="Fira Sans" pitchFamily="34" charset="0"/>
                <a:ea typeface="Fira Sans" pitchFamily="34" charset="-122"/>
                <a:cs typeface="Fira Sans" pitchFamily="34" charset="-120"/>
              </a:rPr>
              <a:t>Demo checklist</a:t>
            </a:r>
            <a:endParaRPr lang="en-US" sz="2300" dirty="0"/>
          </a:p>
        </p:txBody>
      </p:sp>
      <p:sp>
        <p:nvSpPr>
          <p:cNvPr id="11" name="Text 9"/>
          <p:cNvSpPr/>
          <p:nvPr/>
        </p:nvSpPr>
        <p:spPr>
          <a:xfrm>
            <a:off x="6324442" y="5000228"/>
            <a:ext cx="5410065" cy="1033661"/>
          </a:xfrm>
          <a:prstGeom prst="rect">
            <a:avLst/>
          </a:prstGeom>
          <a:noFill/>
          <a:ln/>
        </p:spPr>
        <p:txBody>
          <a:bodyPr wrap="square" lIns="0" tIns="0" rIns="0" bIns="0" rtlCol="0" anchor="t">
            <a:normAutofit/>
          </a:bodyPr>
          <a:lstStyle/>
          <a:p>
            <a:pPr algn="l" marL="345440" indent="-345440">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Show a valid flow.</a:t>
            </a:r>
            <a:endParaRPr lang="en-US" sz="1700" dirty="0"/>
          </a:p>
          <a:p>
            <a:pPr algn="l" marL="345440" indent="-345440">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Trigger insufficient funds.</a:t>
            </a:r>
            <a:endParaRPr lang="en-US" sz="1700" dirty="0"/>
          </a:p>
          <a:p>
            <a:pPr algn="l" marL="345440" indent="-345440">
              <a:lnSpc>
                <a:spcPct val="117000"/>
              </a:lnSpc>
              <a:buSzPct val="100000"/>
              <a:buChar char="•"/>
            </a:pPr>
            <a:r>
              <a:rPr lang="en-US" sz="1700" dirty="0">
                <a:solidFill>
                  <a:srgbClr val="1F2937"/>
                </a:solidFill>
                <a:latin typeface="Fira Sans" pitchFamily="34" charset="0"/>
                <a:ea typeface="Fira Sans" pitchFamily="34" charset="-122"/>
                <a:cs typeface="Fira Sans" pitchFamily="34" charset="-120"/>
              </a:rPr>
              <a:t>Print a date-filtered statement.</a:t>
            </a:r>
            <a:endParaRPr lang="en-US" sz="1700" dirty="0"/>
          </a:p>
        </p:txBody>
      </p:sp>
      <p:sp>
        <p:nvSpPr>
          <p:cNvPr id="12" name="Text 10"/>
          <p:cNvSpPr/>
          <p:nvPr/>
        </p:nvSpPr>
        <p:spPr>
          <a:xfrm>
            <a:off x="11578042" y="6531570"/>
            <a:ext cx="613653" cy="195560"/>
          </a:xfrm>
          <a:prstGeom prst="rect">
            <a:avLst/>
          </a:prstGeom>
          <a:noFill/>
          <a:ln/>
        </p:spPr>
        <p:txBody>
          <a:bodyPr wrap="none" lIns="0" tIns="0" rIns="0" bIns="0" rtlCol="0" anchor="ctr"/>
          <a:lstStyle/>
          <a:p>
            <a:pPr algn="l" indent="0" marL="0">
              <a:lnSpc>
                <a:spcPct val="117000"/>
              </a:lnSpc>
              <a:buNone/>
            </a:pPr>
            <a:r>
              <a:rPr lang="en-US" sz="1100" dirty="0">
                <a:solidFill>
                  <a:srgbClr val="1F2937"/>
                </a:solidFill>
                <a:latin typeface="Fira Sans" pitchFamily="34" charset="0"/>
                <a:ea typeface="Fira Sans" pitchFamily="34" charset="-122"/>
                <a:cs typeface="Fira Sans" pitchFamily="34" charset="-120"/>
              </a:rPr>
              <a:t>12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2026-09-11T13:09:11Z</dcterms:created>
  <dcterms:modified xsi:type="dcterms:W3CDTF">2026-09-11T13:09:11Z</dcterms:modified>
</cp:coreProperties>
</file>